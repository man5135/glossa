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9" r:id="rId11"/>
    <p:sldId id="276" r:id="rId12"/>
    <p:sldId id="277" r:id="rId13"/>
    <p:sldId id="278" r:id="rId14"/>
    <p:sldId id="268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11" userDrawn="1">
          <p15:clr>
            <a:srgbClr val="F26B43"/>
          </p15:clr>
        </p15:guide>
        <p15:guide id="4" pos="7469" userDrawn="1">
          <p15:clr>
            <a:srgbClr val="F26B43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3A95"/>
    <a:srgbClr val="FF6F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20" autoAdjust="0"/>
  </p:normalViewPr>
  <p:slideViewPr>
    <p:cSldViewPr snapToGrid="0" showGuides="1">
      <p:cViewPr varScale="1">
        <p:scale>
          <a:sx n="68" d="100"/>
          <a:sy n="68" d="100"/>
        </p:scale>
        <p:origin x="924" y="60"/>
      </p:cViewPr>
      <p:guideLst>
        <p:guide orient="horz" pos="2160"/>
        <p:guide pos="3840"/>
        <p:guide pos="211"/>
        <p:guide pos="746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6" d="100"/>
          <a:sy n="76" d="100"/>
        </p:scale>
        <p:origin x="3461" y="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5226DFD-7B12-33B0-1C6C-A7FE9744F8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33529B-5C43-F028-6F5E-FE220F46FDC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CF6C3-3B26-4602-A1D4-7D0ED8E735B8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5749496-3173-DD6C-8853-C12652A63A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7E76C52-B8A1-61B1-8694-E8321CD3A1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03A77-E50A-4DAF-B593-1EF627EE7A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114238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C02C69-8DE2-4037-9273-B483969A225B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A97237-9A32-443D-ADDA-6790E021DD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5476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A97237-9A32-443D-ADDA-6790E021DD4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900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F61A02-62D8-57FF-0F63-7B6CB55FBD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BAC96F6-93C0-4375-B7C7-787538BBA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396710-DDF3-C97C-C39D-92E7769D4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846C2-16E4-48DF-A0F3-6554C1CCFA10}" type="datetime1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7096D0-DEA8-8FC9-6FC8-BC3DDB4C2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1FF5D6-3E56-FD96-3411-82E10F4F2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7592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008BDD-BE9D-1AE0-66D3-F15AF1D98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D551C6-E6EE-4039-BCAC-E7FD19FAE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A552DB-8FAB-EA30-0D19-0102EBADF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91B4C-BD50-48AD-AB40-827EEA5023B4}" type="datetime1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C0189F-DBDC-6797-C2D3-E0E482D84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01AB3E-080F-4801-0992-19F4AF0CA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4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6962B9-3609-E246-0126-8D9A139A7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916762-F11A-D409-4B96-BDEDE640C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D5AD02-A644-6DD9-8422-78D810607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510A6-1F72-4E7E-B252-52FDC2B6EA8A}" type="datetime1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63CA4A-1770-B7CA-0DF8-3A2A47799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E08397-7575-E620-E945-2624863DD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2913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0C298-1C9B-2360-DE7A-78259051C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019CF2-959D-BF78-6E82-F794E00B98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38F1DE9-8CA4-5FC6-29D1-B72D1D5DF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0F0E42F-592E-5C7F-2D2F-540502A95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C6F40-A7F1-495C-AEEC-50FAE4092135}" type="datetime1">
              <a:rPr lang="ru-RU" smtClean="0"/>
              <a:t>15.06.2026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0473E7-F4E7-3918-D64A-ABBFDEFE5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1A72453-35C2-2395-9ED6-F89D9F6EE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9957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4A8617-3CF6-02A3-8009-BA4DF8E91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DB9A1AD-F569-BF99-33C3-68E9403F2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68BCD6-FCD1-0597-CA64-95E8A0893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3F3DDED-03E2-6F3D-1E96-FFD4146BDB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3B8F95F-3968-EDC0-DA8F-748D5B8DDC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73A54EA-4CE6-3867-4189-21507BEDF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41067-761F-4239-9025-4C060066BB29}" type="datetime1">
              <a:rPr lang="ru-RU" smtClean="0"/>
              <a:t>15.06.2026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9765D3B-D879-CE58-587C-BB9C4BFDB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FF8B4A1-6E57-1556-E528-7BFEA9199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7749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78F3C-787D-2644-066F-10390279F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9C3654C-5C7C-448E-DCB4-7CFBA4143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39CB9-9715-4637-A2D1-25395F64EF66}" type="datetime1">
              <a:rPr lang="ru-RU" smtClean="0"/>
              <a:t>15.06.2026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FB784A1-0857-7B19-06E8-DD9E46F3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5E8701E-B504-F810-34A8-64A044FEB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6987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AC83353-73E3-A0C0-7D7D-6431D9E76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BBC78-889D-4682-A789-DAE2AE10FFB4}" type="datetime1">
              <a:rPr lang="ru-RU" smtClean="0"/>
              <a:t>15.06.2026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208036E-4085-91CC-38F6-70A6FCC98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A296D3-76D5-AE5B-223C-E1EA51F3D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2158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81CF4-365C-87A3-1A48-7B020ECB8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4FF640-D8CB-41D3-661F-112B885A4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7B20B9-E197-83B2-28BE-CAD68D249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A2BD2B1-28EF-6121-1128-DE552ED7D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ED9AD-2D88-46BA-89E3-03DFC5B96BB0}" type="datetime1">
              <a:rPr lang="ru-RU" smtClean="0"/>
              <a:t>15.06.2026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37B5086-0C0F-F0F0-E67C-DA8F78EF5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7D95B2-49D9-1DE6-69A3-32FBEF0E0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7629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90C48-8132-F025-790C-55E82FEE6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1ABD747-9E90-40E4-90FC-CD466C717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4DFFB5-3ACB-EA96-8968-E9E6E06278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30605E-1D41-AF86-519E-9C90FB747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A38F-5ECD-4502-9FE1-D737DB87ACFA}" type="datetime1">
              <a:rPr lang="ru-RU" smtClean="0"/>
              <a:t>15.06.2026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224591-EB1C-590F-0704-EADDF4CF2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5E91B3-87F2-9F92-6F73-42A33085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1675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413497-963C-0019-CE8B-736277D9F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00674B2-C55D-9B87-DC42-DD3C25431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1D6F8F-87FC-120B-0267-00E33AE63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8C00-9DAD-4B9E-B467-FDAC9C874762}" type="datetime1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F7301A-274F-5DE7-2F2B-030BB5C38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08C153-D885-E5E8-9DCB-8516543C3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2591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78C285A-EE87-01C2-C80E-B57A6E599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28A9A0F-1089-39FB-E4B2-6CAEEF2806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8715D1-3ABF-F65D-0E6A-CA209EDD0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155-C02B-4E23-A3A2-38D596AA0380}" type="datetime1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1BE47F-BA2C-9867-50F8-BA6C53EBD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6275BA-72E2-7B8F-06C9-37C629B88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0755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D1583D-7877-6E33-572A-2C6517D83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F0B7BE-837F-57C2-DFDD-350042AF6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DD61B4-693C-4042-2C0F-4BADA0D186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B6FD9-0481-48E1-AAF2-037F64EC94C6}" type="datetime1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E7D339-895B-6CD5-8318-B713FC5DC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27380B-29FA-064E-41A8-F986CE0CE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E2CC4F-E372-4903-AEE1-D93856D9C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0611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3D3D992F-6566-C37C-CF57-2E91AAA660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8" t="17417" r="23093" b="20852"/>
          <a:stretch>
            <a:fillRect/>
          </a:stretch>
        </p:blipFill>
        <p:spPr bwMode="auto">
          <a:xfrm>
            <a:off x="334963" y="46466"/>
            <a:ext cx="822239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631091-028B-BADA-D73B-1F64DFCA1DF4}"/>
              </a:ext>
            </a:extLst>
          </p:cNvPr>
          <p:cNvSpPr txBox="1"/>
          <p:nvPr/>
        </p:nvSpPr>
        <p:spPr>
          <a:xfrm>
            <a:off x="1157202" y="55550"/>
            <a:ext cx="596477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3A3A9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ДЕПАРТАМЕНТ ОБРАЗОВАНИЯ И НАУКИ ГОРОДА МОСКВЫ</a:t>
            </a:r>
          </a:p>
          <a:p>
            <a:r>
              <a:rPr lang="ru-RU" sz="1400" dirty="0">
                <a:solidFill>
                  <a:srgbClr val="3A3A9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Государственное бюджетное профессиональное</a:t>
            </a:r>
          </a:p>
          <a:p>
            <a:r>
              <a:rPr lang="ru-RU" sz="1400" dirty="0">
                <a:solidFill>
                  <a:srgbClr val="3A3A9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образовательное учреждение города Москвы</a:t>
            </a:r>
          </a:p>
          <a:p>
            <a:r>
              <a:rPr lang="ru-RU" sz="1400" dirty="0">
                <a:solidFill>
                  <a:srgbClr val="3A3A95"/>
                </a:solidFill>
                <a:latin typeface="Arial Black" panose="020B0A04020102020204" pitchFamily="34" charset="0"/>
              </a:rPr>
              <a:t>«</a:t>
            </a:r>
            <a:r>
              <a:rPr lang="ru-RU" sz="1400" b="1" dirty="0">
                <a:solidFill>
                  <a:srgbClr val="3A3A95"/>
                </a:solidFill>
                <a:latin typeface="Arial Black" panose="020B0A04020102020204" pitchFamily="34" charset="0"/>
              </a:rPr>
              <a:t>Колледж малого бизнеса № 4</a:t>
            </a:r>
            <a:r>
              <a:rPr lang="ru-RU" sz="1400" dirty="0">
                <a:solidFill>
                  <a:srgbClr val="3A3A95"/>
                </a:solidFill>
                <a:latin typeface="Arial Black" panose="020B0A04020102020204" pitchFamily="34" charset="0"/>
              </a:rPr>
              <a:t>»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F4E874-232B-1D14-1BA8-0E8ED00827FF}"/>
              </a:ext>
            </a:extLst>
          </p:cNvPr>
          <p:cNvSpPr txBox="1"/>
          <p:nvPr/>
        </p:nvSpPr>
        <p:spPr>
          <a:xfrm>
            <a:off x="2295163" y="2029927"/>
            <a:ext cx="7601673" cy="646331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pPr algn="ctr"/>
            <a:r>
              <a:rPr lang="ru-RU" dirty="0">
                <a:latin typeface="Arial Black" panose="020B0A04020102020204" pitchFamily="34" charset="0"/>
              </a:rPr>
              <a:t>ВЫПУСКНАЯ КВАЛИФИКАЦИОННАЯ РАБОТА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 теме: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6F8187-3C20-C68D-DD13-A88685394AE6}"/>
              </a:ext>
            </a:extLst>
          </p:cNvPr>
          <p:cNvSpPr txBox="1"/>
          <p:nvPr/>
        </p:nvSpPr>
        <p:spPr>
          <a:xfrm>
            <a:off x="334962" y="4881468"/>
            <a:ext cx="7929361" cy="1323439"/>
          </a:xfrm>
          <a:prstGeom prst="rect">
            <a:avLst/>
          </a:prstGeom>
          <a:noFill/>
        </p:spPr>
        <p:txBody>
          <a:bodyPr wrap="square" lIns="0" tIns="36000" rIns="0" bIns="36000" anchor="ctr">
            <a:spAutoFit/>
          </a:bodyPr>
          <a:lstStyle/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Специальность</a:t>
            </a:r>
            <a:r>
              <a:rPr lang="ru-RU" sz="1600" u="sng" dirty="0">
                <a:latin typeface="Arial" panose="020B0604020202020204" pitchFamily="34" charset="0"/>
                <a:cs typeface="Arial" panose="020B0604020202020204" pitchFamily="34" charset="0"/>
              </a:rPr>
              <a:t>: 09.02.07 Информационные системы и программирование</a:t>
            </a: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Квалификация: </a:t>
            </a:r>
            <a:r>
              <a:rPr lang="ru-RU" sz="1600" u="sng" dirty="0">
                <a:latin typeface="Arial" panose="020B0604020202020204" pitchFamily="34" charset="0"/>
                <a:cs typeface="Arial" panose="020B0604020202020204" pitchFamily="34" charset="0"/>
              </a:rPr>
              <a:t>Специалист по информационным системам</a:t>
            </a: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Курс </a:t>
            </a:r>
            <a:r>
              <a:rPr lang="pl-PL" sz="1600" u="sng" dirty="0">
                <a:latin typeface="Arial" panose="020B0604020202020204" pitchFamily="34" charset="0"/>
                <a:cs typeface="Arial" panose="020B0604020202020204" pitchFamily="34" charset="0"/>
              </a:rPr>
              <a:t>III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, группа </a:t>
            </a:r>
            <a:r>
              <a:rPr lang="ru-RU" sz="1600" u="sng" dirty="0">
                <a:latin typeface="Arial" panose="020B0604020202020204" pitchFamily="34" charset="0"/>
                <a:cs typeface="Arial" panose="020B0604020202020204" pitchFamily="34" charset="0"/>
              </a:rPr>
              <a:t>ИП</a:t>
            </a:r>
            <a:r>
              <a:rPr lang="pl-PL" sz="1600" u="sng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ru-RU" sz="1600" u="sng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pl-PL" sz="1600" u="sng" dirty="0">
                <a:latin typeface="Arial" panose="020B0604020202020204" pitchFamily="34" charset="0"/>
                <a:cs typeface="Arial" panose="020B0604020202020204" pitchFamily="34" charset="0"/>
              </a:rPr>
              <a:t>31</a:t>
            </a:r>
            <a:r>
              <a:rPr lang="ru-RU" sz="1600" u="sng" dirty="0">
                <a:latin typeface="Arial" panose="020B0604020202020204" pitchFamily="34" charset="0"/>
                <a:cs typeface="Arial" panose="020B0604020202020204" pitchFamily="34" charset="0"/>
              </a:rPr>
              <a:t>.2</a:t>
            </a:r>
            <a:r>
              <a:rPr lang="pl-PL" sz="1600" u="sng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ru-RU" sz="16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Обучающийся: </a:t>
            </a:r>
            <a:r>
              <a:rPr lang="ru-RU" sz="1600" u="sng" dirty="0">
                <a:latin typeface="Arial" panose="020B0604020202020204" pitchFamily="34" charset="0"/>
                <a:cs typeface="Arial" panose="020B0604020202020204" pitchFamily="34" charset="0"/>
              </a:rPr>
              <a:t>Разумов Даниил Сергеевич</a:t>
            </a: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Руководитель: </a:t>
            </a:r>
            <a:r>
              <a:rPr lang="ru-RU" u="sng" dirty="0">
                <a:latin typeface="Arial" panose="020B0604020202020204" pitchFamily="34" charset="0"/>
                <a:cs typeface="Arial" panose="020B0604020202020204" pitchFamily="34" charset="0"/>
              </a:rPr>
              <a:t>Чепрасова Анастасия Сергеевна</a:t>
            </a:r>
            <a:endParaRPr lang="ru-RU" sz="1600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39127D-D5C9-CA95-EF0A-DECD30E84850}"/>
              </a:ext>
            </a:extLst>
          </p:cNvPr>
          <p:cNvSpPr txBox="1"/>
          <p:nvPr/>
        </p:nvSpPr>
        <p:spPr>
          <a:xfrm>
            <a:off x="334961" y="2870739"/>
            <a:ext cx="11522075" cy="811367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pPr algn="ctr"/>
            <a:r>
              <a:rPr lang="ru-RU" sz="2400" dirty="0">
                <a:latin typeface="Arial Black" panose="020B0A04020102020204" pitchFamily="34" charset="0"/>
              </a:rPr>
              <a:t>«</a:t>
            </a:r>
            <a:r>
              <a:rPr lang="ru-RU" sz="2400" dirty="0">
                <a:latin typeface="Arial Black" panose="020B0A04020102020204" pitchFamily="34" charset="0"/>
                <a:cs typeface="Times New Roman" panose="02020603050405020304" pitchFamily="18" charset="0"/>
              </a:rPr>
              <a:t>Разработка мобильного приложения для изучения иностранных языков (на примере греческого языка</a:t>
            </a:r>
            <a:r>
              <a:rPr lang="ru-RU" sz="2400" dirty="0">
                <a:latin typeface="Arial Black" panose="020B0A04020102020204" pitchFamily="34" charset="0"/>
              </a:rPr>
              <a:t>»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6E51F5-BBE8-FE8B-0F5C-F2BC27C5C57D}"/>
              </a:ext>
            </a:extLst>
          </p:cNvPr>
          <p:cNvSpPr txBox="1"/>
          <p:nvPr/>
        </p:nvSpPr>
        <p:spPr>
          <a:xfrm>
            <a:off x="4578750" y="6483526"/>
            <a:ext cx="3034495" cy="318924"/>
          </a:xfrm>
          <a:prstGeom prst="rect">
            <a:avLst/>
          </a:prstGeom>
          <a:noFill/>
        </p:spPr>
        <p:txBody>
          <a:bodyPr wrap="square" lIns="0" tIns="36000" rIns="0" bIns="36000" anchor="ctr">
            <a:spAutoFit/>
          </a:bodyPr>
          <a:lstStyle/>
          <a:p>
            <a:pPr algn="ctr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Москва, 2026</a:t>
            </a:r>
          </a:p>
        </p:txBody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BBD7AEB9-0823-6148-E3FD-AB5F384DDDA2}"/>
              </a:ext>
            </a:extLst>
          </p:cNvPr>
          <p:cNvSpPr/>
          <p:nvPr/>
        </p:nvSpPr>
        <p:spPr>
          <a:xfrm>
            <a:off x="334963" y="1000574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7622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B84603F7-0122-5A9E-48E0-8AE321ADA366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CFE726-9925-A504-979F-BF45D8C05085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3A3A9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Цель и задачи ВКР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738929-977D-3D74-E7F2-E19C8F76A4F5}"/>
              </a:ext>
            </a:extLst>
          </p:cNvPr>
          <p:cNvSpPr txBox="1"/>
          <p:nvPr/>
        </p:nvSpPr>
        <p:spPr>
          <a:xfrm>
            <a:off x="334963" y="1923329"/>
            <a:ext cx="173751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Цель</a:t>
            </a:r>
            <a:r>
              <a:rPr lang="pl-PL" sz="2400" dirty="0"/>
              <a:t>:</a:t>
            </a:r>
            <a:r>
              <a:rPr lang="pl-PL" dirty="0"/>
              <a:t> </a:t>
            </a:r>
            <a:endParaRPr lang="ru-RU" dirty="0"/>
          </a:p>
          <a:p>
            <a:endParaRPr lang="ru-RU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BA1027F8-12CC-5ED7-53AD-8BEA8E1F5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2</a:t>
            </a:fld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CF7AF-C421-3381-406C-F5655999470B}"/>
              </a:ext>
            </a:extLst>
          </p:cNvPr>
          <p:cNvSpPr txBox="1"/>
          <p:nvPr/>
        </p:nvSpPr>
        <p:spPr>
          <a:xfrm>
            <a:off x="5203557" y="2246497"/>
            <a:ext cx="699164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Анализ</a:t>
            </a:r>
            <a:r>
              <a:rPr lang="en-US" sz="2000" dirty="0"/>
              <a:t> </a:t>
            </a:r>
            <a:r>
              <a:rPr lang="en-US" sz="2000" dirty="0" err="1"/>
              <a:t>предметной</a:t>
            </a:r>
            <a:r>
              <a:rPr lang="en-US" sz="2000" dirty="0"/>
              <a:t> </a:t>
            </a:r>
            <a:r>
              <a:rPr lang="en-US" sz="2000" dirty="0" err="1"/>
              <a:t>области</a:t>
            </a:r>
            <a:r>
              <a:rPr lang="en-US" sz="2000" dirty="0"/>
              <a:t> и </a:t>
            </a:r>
            <a:r>
              <a:rPr lang="en-US" sz="2000" dirty="0" err="1"/>
              <a:t>существующих</a:t>
            </a:r>
            <a:r>
              <a:rPr lang="en-US" sz="2000" dirty="0"/>
              <a:t> </a:t>
            </a:r>
            <a:r>
              <a:rPr lang="en-US" sz="2000" dirty="0" err="1"/>
              <a:t>аналогов</a:t>
            </a:r>
            <a:r>
              <a:rPr lang="en-US" sz="20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Обоснование</a:t>
            </a:r>
            <a:r>
              <a:rPr lang="en-US" sz="2000" dirty="0"/>
              <a:t> </a:t>
            </a:r>
            <a:r>
              <a:rPr lang="en-US" sz="2000" dirty="0" err="1"/>
              <a:t>выбора</a:t>
            </a:r>
            <a:r>
              <a:rPr lang="en-US" sz="2000" dirty="0"/>
              <a:t> </a:t>
            </a:r>
            <a:r>
              <a:rPr lang="en-US" sz="2000" dirty="0" err="1"/>
              <a:t>стека</a:t>
            </a:r>
            <a:r>
              <a:rPr lang="en-US" sz="2000" dirty="0"/>
              <a:t> </a:t>
            </a:r>
            <a:r>
              <a:rPr lang="en-US" sz="2000" dirty="0" err="1"/>
              <a:t>технологий</a:t>
            </a:r>
            <a:r>
              <a:rPr lang="en-US" sz="2000" dirty="0"/>
              <a:t> (React Native, Firebase).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Проектирование</a:t>
            </a:r>
            <a:r>
              <a:rPr lang="en-US" sz="2000" dirty="0"/>
              <a:t> </a:t>
            </a:r>
            <a:r>
              <a:rPr lang="en-US" sz="2000" dirty="0" err="1"/>
              <a:t>архитектуры</a:t>
            </a:r>
            <a:r>
              <a:rPr lang="en-US" sz="2000" dirty="0"/>
              <a:t> и </a:t>
            </a:r>
            <a:r>
              <a:rPr lang="en-US" sz="2000" dirty="0" err="1"/>
              <a:t>базы</a:t>
            </a:r>
            <a:r>
              <a:rPr lang="en-US" sz="2000" dirty="0"/>
              <a:t> </a:t>
            </a:r>
            <a:r>
              <a:rPr lang="en-US" sz="2000" dirty="0" err="1"/>
              <a:t>данных</a:t>
            </a:r>
            <a:r>
              <a:rPr lang="en-US" sz="2000" dirty="0"/>
              <a:t> NoSQL.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Программная</a:t>
            </a:r>
            <a:r>
              <a:rPr lang="en-US" sz="2000" dirty="0"/>
              <a:t> </a:t>
            </a:r>
            <a:r>
              <a:rPr lang="en-US" sz="2000" dirty="0" err="1"/>
              <a:t>реализация</a:t>
            </a:r>
            <a:r>
              <a:rPr lang="en-US" sz="2000" dirty="0"/>
              <a:t> </a:t>
            </a:r>
            <a:r>
              <a:rPr lang="en-US" sz="2000" dirty="0" err="1"/>
              <a:t>интерфейса</a:t>
            </a:r>
            <a:r>
              <a:rPr lang="en-US" sz="2000" dirty="0"/>
              <a:t> и </a:t>
            </a:r>
            <a:r>
              <a:rPr lang="en-US" sz="2000" dirty="0" err="1"/>
              <a:t>логики</a:t>
            </a:r>
            <a:r>
              <a:rPr lang="en-US" sz="20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Тестирование</a:t>
            </a:r>
            <a:r>
              <a:rPr lang="en-US" sz="2000" dirty="0"/>
              <a:t> и </a:t>
            </a:r>
            <a:r>
              <a:rPr lang="en-US" sz="2000" dirty="0" err="1"/>
              <a:t>подготовка</a:t>
            </a:r>
            <a:r>
              <a:rPr lang="en-US" sz="2000" dirty="0"/>
              <a:t> </a:t>
            </a:r>
            <a:r>
              <a:rPr lang="en-US" sz="2000" dirty="0" err="1"/>
              <a:t>документации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6A372E-0223-93C1-FE74-C09AA6DF2129}"/>
              </a:ext>
            </a:extLst>
          </p:cNvPr>
          <p:cNvSpPr txBox="1"/>
          <p:nvPr/>
        </p:nvSpPr>
        <p:spPr>
          <a:xfrm>
            <a:off x="334963" y="2661993"/>
            <a:ext cx="44525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Спроектировать и </a:t>
            </a:r>
            <a:r>
              <a:rPr lang="en-US" sz="2000" dirty="0" err="1"/>
              <a:t>реализовать</a:t>
            </a:r>
            <a:r>
              <a:rPr lang="en-US" sz="2000" b="1" dirty="0"/>
              <a:t> </a:t>
            </a:r>
            <a:r>
              <a:rPr lang="en-US" sz="2000" b="1" dirty="0" err="1"/>
              <a:t>кроссплатформенное</a:t>
            </a:r>
            <a:r>
              <a:rPr lang="en-US" sz="2000" b="1" dirty="0"/>
              <a:t> </a:t>
            </a:r>
            <a:r>
              <a:rPr lang="en-US" sz="2000" b="1" dirty="0" err="1"/>
              <a:t>приложение</a:t>
            </a:r>
            <a:r>
              <a:rPr lang="en-US" sz="2000" b="1" dirty="0"/>
              <a:t> 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интерактивного</a:t>
            </a:r>
            <a:r>
              <a:rPr lang="en-US" sz="2000" dirty="0"/>
              <a:t> </a:t>
            </a:r>
            <a:r>
              <a:rPr lang="en-US" sz="2000" dirty="0" err="1"/>
              <a:t>изучения</a:t>
            </a:r>
            <a:r>
              <a:rPr lang="en-US" sz="2000" dirty="0"/>
              <a:t> </a:t>
            </a:r>
            <a:r>
              <a:rPr lang="en-US" sz="2000" dirty="0" err="1"/>
              <a:t>греческого</a:t>
            </a:r>
            <a:r>
              <a:rPr lang="en-US" sz="2000" dirty="0"/>
              <a:t> </a:t>
            </a:r>
            <a:r>
              <a:rPr lang="en-US" sz="2000" dirty="0" err="1"/>
              <a:t>языка</a:t>
            </a:r>
            <a:r>
              <a:rPr lang="en-US" sz="2000" dirty="0"/>
              <a:t> с динамическим </a:t>
            </a:r>
            <a:r>
              <a:rPr lang="en-US" sz="2000" dirty="0" err="1"/>
              <a:t>отслеживанием</a:t>
            </a:r>
            <a:r>
              <a:rPr lang="en-US" sz="2000" dirty="0"/>
              <a:t> </a:t>
            </a:r>
            <a:r>
              <a:rPr lang="en-US" sz="2000" dirty="0" err="1"/>
              <a:t>прогресса</a:t>
            </a:r>
            <a:r>
              <a:rPr lang="en-US" sz="2000" dirty="0"/>
              <a:t> в </a:t>
            </a:r>
            <a:r>
              <a:rPr lang="en-US" sz="2000" dirty="0" err="1"/>
              <a:t>реальном</a:t>
            </a:r>
            <a:r>
              <a:rPr lang="en-US" sz="2000" dirty="0"/>
              <a:t> </a:t>
            </a:r>
            <a:r>
              <a:rPr lang="en-US" sz="2000" dirty="0" err="1"/>
              <a:t>времени</a:t>
            </a:r>
            <a:r>
              <a:rPr lang="en-US" sz="20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868BE6-25F1-3A68-0880-0DD4CAAEF59F}"/>
              </a:ext>
            </a:extLst>
          </p:cNvPr>
          <p:cNvSpPr txBox="1"/>
          <p:nvPr/>
        </p:nvSpPr>
        <p:spPr>
          <a:xfrm>
            <a:off x="5203557" y="1923329"/>
            <a:ext cx="340704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Основные задачи</a:t>
            </a:r>
            <a:r>
              <a:rPr lang="pl-PL" sz="2400" dirty="0"/>
              <a:t>: </a:t>
            </a:r>
            <a:endParaRPr lang="ru-RU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1961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0DE00-AAE5-D0E0-685B-32DFE8FCC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3DBF0DBC-BA19-6D3F-3966-5D550A52B38D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C7175-E7B1-18ED-B3CB-2B2A3352982A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3A3A9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Актуальность и проблема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5A1AC3-52EB-CCC1-A6B1-E088BBF75570}"/>
              </a:ext>
            </a:extLst>
          </p:cNvPr>
          <p:cNvSpPr txBox="1"/>
          <p:nvPr/>
        </p:nvSpPr>
        <p:spPr>
          <a:xfrm>
            <a:off x="334963" y="2828836"/>
            <a:ext cx="11522075" cy="3219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457200">
              <a:lnSpc>
                <a:spcPct val="115000"/>
              </a:lnSpc>
              <a:buSzPts val="2400"/>
            </a:pPr>
            <a:r>
              <a:rPr lang="ru-RU" sz="2400" dirty="0">
                <a:solidFill>
                  <a:schemeClr val="dk1"/>
                </a:solidFill>
                <a:latin typeface="Aptos" panose="020B0004020202020204" pitchFamily="34" charset="0"/>
                <a:ea typeface="Times New Roman"/>
                <a:cs typeface="Times New Roman"/>
                <a:sym typeface="Times New Roman"/>
              </a:rPr>
              <a:t>Информационные системы широко применяются в различных сферах жизни, а в обучении позволяют вывести качество и комфорт на новый уровень.</a:t>
            </a:r>
          </a:p>
          <a:p>
            <a:pPr lvl="0">
              <a:spcBef>
                <a:spcPts val="1600"/>
              </a:spcBef>
              <a:buClr>
                <a:schemeClr val="dk1"/>
              </a:buClr>
              <a:buSzPts val="1100"/>
            </a:pPr>
            <a:r>
              <a:rPr lang="ru-RU" sz="2400" dirty="0">
                <a:solidFill>
                  <a:schemeClr val="dk1"/>
                </a:solidFill>
                <a:latin typeface="Aptos" panose="020B0004020202020204" pitchFamily="34" charset="0"/>
                <a:ea typeface="Times New Roman"/>
                <a:cs typeface="Times New Roman"/>
                <a:sym typeface="Times New Roman"/>
              </a:rPr>
              <a:t>Актуальность работы заключается в дефиците качественных русскоязычных приложений для новогреческого языка. Большинство аналогов ориентированы на англоязычную аудиторию</a:t>
            </a:r>
            <a:endParaRPr lang="el-GR" sz="2400" dirty="0">
              <a:solidFill>
                <a:schemeClr val="dk1"/>
              </a:solidFill>
              <a:latin typeface="Aptos" panose="020B0004020202020204" pitchFamily="34" charset="0"/>
              <a:ea typeface="Times New Roman"/>
              <a:cs typeface="Times New Roman"/>
              <a:sym typeface="Times New Roman"/>
            </a:endParaRPr>
          </a:p>
          <a:p>
            <a:pPr lvl="0">
              <a:spcBef>
                <a:spcPts val="1600"/>
              </a:spcBef>
              <a:buClr>
                <a:schemeClr val="dk1"/>
              </a:buClr>
              <a:buSzPts val="1100"/>
            </a:pPr>
            <a:endParaRPr lang="el-GR" dirty="0">
              <a:solidFill>
                <a:schemeClr val="dk1"/>
              </a:solidFill>
              <a:latin typeface="Aptos" panose="020B0004020202020204" pitchFamily="34" charset="0"/>
              <a:ea typeface="Times New Roman"/>
              <a:cs typeface="Times New Roman"/>
              <a:sym typeface="Times New Roman"/>
            </a:endParaRPr>
          </a:p>
          <a:p>
            <a:pPr lvl="0">
              <a:spcBef>
                <a:spcPts val="1600"/>
              </a:spcBef>
              <a:buClr>
                <a:schemeClr val="dk1"/>
              </a:buClr>
              <a:buSzPts val="1100"/>
            </a:pPr>
            <a:endParaRPr lang="ru-RU" dirty="0">
              <a:solidFill>
                <a:schemeClr val="dk1"/>
              </a:solidFill>
              <a:latin typeface="Aptos" panose="020B000402020202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BE16C0-69CE-1701-FE63-3AB0E7BE2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9242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A0159-FE24-B5BE-2BC3-36E19BDBB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09E43C67-43D6-C9C5-D89A-2FA06BB6B5D5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0C61CE-3189-F43F-F5D6-8BA1FF5AF484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3A3A9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Анализ предметной области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669351-5D65-6139-6AC4-E2F3B3D178C4}"/>
              </a:ext>
            </a:extLst>
          </p:cNvPr>
          <p:cNvSpPr txBox="1"/>
          <p:nvPr/>
        </p:nvSpPr>
        <p:spPr>
          <a:xfrm>
            <a:off x="334964" y="2051540"/>
            <a:ext cx="8275637" cy="193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Microlearning</a:t>
            </a:r>
            <a:r>
              <a:rPr lang="pl-PL" sz="2000" b="1" dirty="0"/>
              <a:t>: </a:t>
            </a:r>
            <a:r>
              <a:rPr lang="en-US" sz="2000" dirty="0" err="1"/>
              <a:t>Дробление</a:t>
            </a:r>
            <a:r>
              <a:rPr lang="en-US" sz="2000" dirty="0"/>
              <a:t> </a:t>
            </a:r>
            <a:r>
              <a:rPr lang="en-US" sz="2000" dirty="0" err="1"/>
              <a:t>материала</a:t>
            </a:r>
            <a:r>
              <a:rPr lang="en-US" sz="2000" dirty="0"/>
              <a:t> </a:t>
            </a:r>
            <a:r>
              <a:rPr lang="en-US" sz="2000" dirty="0" err="1"/>
              <a:t>на</a:t>
            </a:r>
            <a:r>
              <a:rPr lang="en-US" sz="2000" dirty="0"/>
              <a:t> </a:t>
            </a:r>
            <a:r>
              <a:rPr lang="en-US" sz="2000" dirty="0" err="1"/>
              <a:t>порции</a:t>
            </a:r>
            <a:r>
              <a:rPr lang="en-US" sz="2000" dirty="0"/>
              <a:t> </a:t>
            </a:r>
            <a:r>
              <a:rPr lang="en-US" sz="2000" dirty="0" err="1"/>
              <a:t>по</a:t>
            </a:r>
            <a:r>
              <a:rPr lang="en-US" sz="2000" dirty="0"/>
              <a:t> 3-7 </a:t>
            </a:r>
            <a:r>
              <a:rPr lang="en-US" sz="2000" dirty="0" err="1"/>
              <a:t>минут</a:t>
            </a:r>
            <a:r>
              <a:rPr lang="en-US" sz="2000" dirty="0"/>
              <a:t>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снижения</a:t>
            </a:r>
            <a:r>
              <a:rPr lang="en-US" sz="2000" dirty="0"/>
              <a:t> </a:t>
            </a:r>
            <a:r>
              <a:rPr lang="en-US" sz="2000" dirty="0" err="1"/>
              <a:t>когнитивной</a:t>
            </a:r>
            <a:r>
              <a:rPr lang="en-US" sz="2000" dirty="0"/>
              <a:t> </a:t>
            </a:r>
            <a:r>
              <a:rPr lang="en-US" sz="2000" dirty="0" err="1"/>
              <a:t>нагрузки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Геймификация</a:t>
            </a:r>
            <a:r>
              <a:rPr lang="pl-PL" sz="2000" b="1" dirty="0"/>
              <a:t>:</a:t>
            </a:r>
            <a:r>
              <a:rPr lang="en-US" sz="2000" dirty="0" err="1"/>
              <a:t>Механики</a:t>
            </a:r>
            <a:r>
              <a:rPr lang="en-US" sz="2000" dirty="0"/>
              <a:t> </a:t>
            </a:r>
            <a:r>
              <a:rPr lang="en-US" sz="2000" dirty="0" err="1"/>
              <a:t>удержания</a:t>
            </a:r>
            <a:r>
              <a:rPr lang="en-US" sz="2000" dirty="0"/>
              <a:t> (Daily Streak) и </a:t>
            </a:r>
            <a:r>
              <a:rPr lang="en-US" sz="2000" dirty="0" err="1"/>
              <a:t>визуальные</a:t>
            </a:r>
            <a:r>
              <a:rPr lang="en-US" sz="2000" dirty="0"/>
              <a:t> </a:t>
            </a:r>
            <a:r>
              <a:rPr lang="en-US" sz="2000" dirty="0" err="1"/>
              <a:t>триггеры</a:t>
            </a:r>
            <a:r>
              <a:rPr lang="en-US" sz="2000" dirty="0"/>
              <a:t> </a:t>
            </a:r>
            <a:r>
              <a:rPr lang="en-US" sz="2000" dirty="0" err="1"/>
              <a:t>мотивации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Адаптивность</a:t>
            </a:r>
            <a:r>
              <a:rPr lang="pl-PL" sz="2000" b="1" dirty="0"/>
              <a:t>: </a:t>
            </a:r>
            <a:r>
              <a:rPr lang="en-US" sz="2000" dirty="0" err="1"/>
              <a:t>Индивидуальные</a:t>
            </a:r>
            <a:r>
              <a:rPr lang="en-US" sz="2000" dirty="0"/>
              <a:t> </a:t>
            </a:r>
            <a:r>
              <a:rPr lang="en-US" sz="2000" dirty="0" err="1"/>
              <a:t>траектории</a:t>
            </a:r>
            <a:r>
              <a:rPr lang="en-US" sz="2000" dirty="0"/>
              <a:t> </a:t>
            </a:r>
            <a:r>
              <a:rPr lang="en-US" sz="2000" dirty="0" err="1"/>
              <a:t>на</a:t>
            </a:r>
            <a:r>
              <a:rPr lang="en-US" sz="2000" dirty="0"/>
              <a:t> </a:t>
            </a:r>
            <a:r>
              <a:rPr lang="en-US" sz="2000" dirty="0" err="1"/>
              <a:t>основе</a:t>
            </a:r>
            <a:r>
              <a:rPr lang="en-US" sz="2000" dirty="0"/>
              <a:t> </a:t>
            </a:r>
            <a:r>
              <a:rPr lang="en-US" sz="2000" dirty="0" err="1"/>
              <a:t>анализа</a:t>
            </a:r>
            <a:r>
              <a:rPr lang="en-US" sz="2000" dirty="0"/>
              <a:t> </a:t>
            </a:r>
            <a:r>
              <a:rPr lang="en-US" sz="2000" dirty="0" err="1"/>
              <a:t>ошибок</a:t>
            </a:r>
            <a:r>
              <a:rPr lang="en-US" sz="2000" dirty="0"/>
              <a:t> </a:t>
            </a:r>
            <a:r>
              <a:rPr lang="en-US" sz="2000" dirty="0" err="1"/>
              <a:t>пользователя</a:t>
            </a:r>
            <a:r>
              <a:rPr lang="en-US" sz="2000" dirty="0"/>
              <a:t>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1CA6D1-30D8-EF10-7876-03F6785E8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4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ABCA79-A352-229B-4AAE-D5CFBA3606A2}"/>
              </a:ext>
            </a:extLst>
          </p:cNvPr>
          <p:cNvSpPr txBox="1"/>
          <p:nvPr/>
        </p:nvSpPr>
        <p:spPr>
          <a:xfrm>
            <a:off x="334963" y="1672392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Актуальность</a:t>
            </a:r>
            <a:r>
              <a:rPr lang="en-US" sz="2400" dirty="0"/>
              <a:t> </a:t>
            </a:r>
            <a:r>
              <a:rPr lang="en-US" sz="2400" dirty="0" err="1"/>
              <a:t>темы</a:t>
            </a:r>
            <a:r>
              <a:rPr lang="en-US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C7CE4D-DD5D-ECB7-FF89-7ACC88DCC244}"/>
              </a:ext>
            </a:extLst>
          </p:cNvPr>
          <p:cNvSpPr txBox="1"/>
          <p:nvPr/>
        </p:nvSpPr>
        <p:spPr>
          <a:xfrm>
            <a:off x="334963" y="4287163"/>
            <a:ext cx="60983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 err="1"/>
              <a:t>Объект</a:t>
            </a:r>
            <a:r>
              <a:rPr lang="en-US" sz="2000" b="1" dirty="0"/>
              <a:t> </a:t>
            </a:r>
            <a:r>
              <a:rPr lang="en-US" sz="2000" b="1" dirty="0" err="1"/>
              <a:t>исследования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Процесс</a:t>
            </a:r>
            <a:r>
              <a:rPr lang="en-US" sz="2000" dirty="0"/>
              <a:t> </a:t>
            </a:r>
            <a:r>
              <a:rPr lang="en-US" sz="2000" dirty="0" err="1"/>
              <a:t>дистанционного</a:t>
            </a:r>
            <a:r>
              <a:rPr lang="en-US" sz="2000" dirty="0"/>
              <a:t> </a:t>
            </a:r>
            <a:r>
              <a:rPr lang="en-US" sz="2000" dirty="0" err="1"/>
              <a:t>изучения</a:t>
            </a:r>
            <a:r>
              <a:rPr lang="en-US" sz="2000" dirty="0"/>
              <a:t> </a:t>
            </a:r>
            <a:r>
              <a:rPr lang="en-US" sz="2000" dirty="0" err="1"/>
              <a:t>иностранных</a:t>
            </a:r>
            <a:r>
              <a:rPr lang="en-US" sz="2000" dirty="0"/>
              <a:t> </a:t>
            </a:r>
            <a:r>
              <a:rPr lang="en-US" sz="2000" dirty="0" err="1"/>
              <a:t>языков</a:t>
            </a:r>
            <a:r>
              <a:rPr lang="en-US" sz="2000" dirty="0"/>
              <a:t> с </a:t>
            </a:r>
            <a:r>
              <a:rPr lang="en-US" sz="2000" dirty="0" err="1"/>
              <a:t>помощью</a:t>
            </a:r>
            <a:r>
              <a:rPr lang="en-US" sz="2000" dirty="0"/>
              <a:t> </a:t>
            </a:r>
            <a:r>
              <a:rPr lang="en-US" sz="2000" dirty="0" err="1"/>
              <a:t>мобильных</a:t>
            </a:r>
            <a:r>
              <a:rPr lang="en-US" sz="2000" dirty="0"/>
              <a:t> </a:t>
            </a:r>
            <a:r>
              <a:rPr lang="en-US" sz="2000" dirty="0" err="1"/>
              <a:t>устройств</a:t>
            </a:r>
            <a:r>
              <a:rPr lang="en-US" sz="2000" dirty="0"/>
              <a:t>.</a:t>
            </a:r>
          </a:p>
          <a:p>
            <a:pPr>
              <a:buNone/>
            </a:pPr>
            <a:r>
              <a:rPr lang="en-US" sz="2000" b="1" dirty="0" err="1"/>
              <a:t>Предмет</a:t>
            </a:r>
            <a:r>
              <a:rPr lang="en-US" sz="2000" b="1" dirty="0"/>
              <a:t> </a:t>
            </a:r>
            <a:r>
              <a:rPr lang="en-US" sz="2000" b="1" dirty="0" err="1"/>
              <a:t>исследования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Проектирование</a:t>
            </a:r>
            <a:r>
              <a:rPr lang="en-US" sz="2000" dirty="0"/>
              <a:t> и </a:t>
            </a:r>
            <a:r>
              <a:rPr lang="en-US" sz="2000" dirty="0" err="1"/>
              <a:t>разработка</a:t>
            </a:r>
            <a:r>
              <a:rPr lang="en-US" sz="2000" dirty="0"/>
              <a:t> </a:t>
            </a:r>
            <a:r>
              <a:rPr lang="en-US" sz="2000" dirty="0" err="1"/>
              <a:t>кроссплатформенного</a:t>
            </a:r>
            <a:r>
              <a:rPr lang="en-US" sz="2000" dirty="0"/>
              <a:t> </a:t>
            </a:r>
            <a:r>
              <a:rPr lang="en-US" sz="2000" dirty="0" err="1"/>
              <a:t>приложения</a:t>
            </a:r>
            <a:r>
              <a:rPr lang="en-US" sz="2000" dirty="0"/>
              <a:t>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изучения</a:t>
            </a:r>
            <a:r>
              <a:rPr lang="en-US" sz="2000" dirty="0"/>
              <a:t> </a:t>
            </a:r>
            <a:r>
              <a:rPr lang="en-US" sz="2000" dirty="0" err="1"/>
              <a:t>новогреческого</a:t>
            </a:r>
            <a:r>
              <a:rPr lang="en-US" sz="2000" dirty="0"/>
              <a:t> </a:t>
            </a:r>
            <a:r>
              <a:rPr lang="en-US" sz="2000" dirty="0" err="1"/>
              <a:t>языка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9308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5BD95-ADD7-0109-4BC8-6B6E669A5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744342BF-6FC0-09B4-7897-06A84617C487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0ECA8C-F878-5DC2-8792-91589247EF6B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3A3A9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Обзор аналогов и выбор подхода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026431-1AFC-0C35-AC2C-E6402DFEE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5</a:t>
            </a:fld>
            <a:endParaRPr lang="ru-RU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A9B7C698-3CF5-E0C4-57F6-D0CE321543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249782"/>
              </p:ext>
            </p:extLst>
          </p:nvPr>
        </p:nvGraphicFramePr>
        <p:xfrm>
          <a:off x="838200" y="2565371"/>
          <a:ext cx="10515600" cy="2871846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55219264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23008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565164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76823855"/>
                    </a:ext>
                  </a:extLst>
                </a:gridCol>
              </a:tblGrid>
              <a:tr h="4786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dirty="0" err="1">
                          <a:solidFill>
                            <a:srgbClr val="020617"/>
                          </a:solidFill>
                          <a:effectLst/>
                        </a:rPr>
                        <a:t>Критерий</a:t>
                      </a:r>
                      <a:endParaRPr lang="en-US" sz="1700" dirty="0">
                        <a:solidFill>
                          <a:srgbClr val="020617"/>
                        </a:solidFill>
                        <a:effectLst/>
                      </a:endParaRPr>
                    </a:p>
                  </a:txBody>
                  <a:tcPr marL="108782" marR="108782" marT="108782" marB="1087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>
                          <a:solidFill>
                            <a:srgbClr val="020617"/>
                          </a:solidFill>
                          <a:effectLst/>
                        </a:rPr>
                        <a:t>Duolingo</a:t>
                      </a:r>
                    </a:p>
                  </a:txBody>
                  <a:tcPr marL="108782" marR="108782" marT="108782" marB="1087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dirty="0">
                          <a:solidFill>
                            <a:srgbClr val="020617"/>
                          </a:solidFill>
                          <a:effectLst/>
                        </a:rPr>
                        <a:t>Anki / Quizlet</a:t>
                      </a:r>
                    </a:p>
                  </a:txBody>
                  <a:tcPr marL="108782" marR="108782" marT="108782" marB="1087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dirty="0">
                          <a:solidFill>
                            <a:srgbClr val="020617"/>
                          </a:solidFill>
                          <a:effectLst/>
                        </a:rPr>
                        <a:t>Glossa (</a:t>
                      </a:r>
                      <a:r>
                        <a:rPr lang="en-US" sz="1700" dirty="0" err="1">
                          <a:solidFill>
                            <a:srgbClr val="020617"/>
                          </a:solidFill>
                          <a:effectLst/>
                        </a:rPr>
                        <a:t>Проект</a:t>
                      </a:r>
                      <a:r>
                        <a:rPr lang="en-US" sz="1700" dirty="0">
                          <a:solidFill>
                            <a:srgbClr val="020617"/>
                          </a:solidFill>
                          <a:effectLst/>
                        </a:rPr>
                        <a:t>)</a:t>
                      </a:r>
                    </a:p>
                  </a:txBody>
                  <a:tcPr marL="108782" marR="108782" marT="108782" marB="1087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539408"/>
                  </a:ext>
                </a:extLst>
              </a:tr>
              <a:tr h="47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 err="1">
                          <a:solidFill>
                            <a:schemeClr val="tx1"/>
                          </a:solidFill>
                          <a:effectLst/>
                        </a:rPr>
                        <a:t>Русско-греческий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  <a:effectLst/>
                        </a:rPr>
                        <a:t>курс</a:t>
                      </a:r>
                      <a:endParaRPr lang="en-US" sz="17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8782" marR="108782" marT="108782" marB="1087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 err="1">
                          <a:solidFill>
                            <a:schemeClr val="tx1"/>
                          </a:solidFill>
                          <a:effectLst/>
                        </a:rPr>
                        <a:t>Отсутствует</a:t>
                      </a:r>
                      <a:endParaRPr lang="en-US" sz="17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8782" marR="108782" marT="108782" marB="1087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Пользовательский</a:t>
                      </a:r>
                    </a:p>
                  </a:txBody>
                  <a:tcPr marL="108782" marR="108782" marT="108782" marB="1087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 err="1">
                          <a:solidFill>
                            <a:schemeClr val="tx1"/>
                          </a:solidFill>
                          <a:effectLst/>
                        </a:rPr>
                        <a:t>Спроектирован</a:t>
                      </a:r>
                      <a:endParaRPr lang="en-US" sz="17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8782" marR="108782" marT="108782" marB="1087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93466"/>
                  </a:ext>
                </a:extLst>
              </a:tr>
              <a:tr h="47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 err="1">
                          <a:solidFill>
                            <a:schemeClr val="tx1"/>
                          </a:solidFill>
                          <a:effectLst/>
                        </a:rPr>
                        <a:t>Валидация</a:t>
                      </a:r>
                      <a:endParaRPr lang="en-US" sz="17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8782" marR="108782" marT="108782" marB="10878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 err="1">
                          <a:solidFill>
                            <a:schemeClr val="tx1"/>
                          </a:solidFill>
                          <a:effectLst/>
                        </a:rPr>
                        <a:t>Мягкая</a:t>
                      </a:r>
                      <a:endParaRPr lang="en-US" sz="17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8782" marR="108782" marT="108782" marB="10878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 err="1">
                          <a:solidFill>
                            <a:schemeClr val="tx1"/>
                          </a:solidFill>
                          <a:effectLst/>
                        </a:rPr>
                        <a:t>Отсутствует</a:t>
                      </a:r>
                      <a:endParaRPr lang="en-US" sz="17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8782" marR="108782" marT="108782" marB="10878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 err="1">
                          <a:solidFill>
                            <a:schemeClr val="tx1"/>
                          </a:solidFill>
                          <a:effectLst/>
                        </a:rPr>
                        <a:t>Алгоритмическая</a:t>
                      </a:r>
                      <a:endParaRPr lang="en-US" sz="17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8782" marR="108782" marT="108782" marB="10878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416439"/>
                  </a:ext>
                </a:extLst>
              </a:tr>
              <a:tr h="47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Порог входа</a:t>
                      </a:r>
                    </a:p>
                  </a:txBody>
                  <a:tcPr marL="108782" marR="108782" marT="108782" marB="10878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Низкий</a:t>
                      </a:r>
                    </a:p>
                  </a:txBody>
                  <a:tcPr marL="108782" marR="108782" marT="108782" marB="10878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 err="1">
                          <a:solidFill>
                            <a:schemeClr val="tx1"/>
                          </a:solidFill>
                          <a:effectLst/>
                        </a:rPr>
                        <a:t>Высокий</a:t>
                      </a:r>
                      <a:endParaRPr lang="en-US" sz="17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8782" marR="108782" marT="108782" marB="10878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 err="1">
                          <a:solidFill>
                            <a:schemeClr val="tx1"/>
                          </a:solidFill>
                          <a:effectLst/>
                        </a:rPr>
                        <a:t>Минимальный</a:t>
                      </a:r>
                      <a:endParaRPr lang="en-US" sz="17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8782" marR="108782" marT="108782" marB="10878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039009"/>
                  </a:ext>
                </a:extLst>
              </a:tr>
              <a:tr h="47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Грамматика</a:t>
                      </a:r>
                    </a:p>
                  </a:txBody>
                  <a:tcPr marL="108782" marR="108782" marT="108782" marB="10878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Поверхностно</a:t>
                      </a:r>
                    </a:p>
                  </a:txBody>
                  <a:tcPr marL="108782" marR="108782" marT="108782" marB="10878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 err="1">
                          <a:solidFill>
                            <a:schemeClr val="tx1"/>
                          </a:solidFill>
                          <a:effectLst/>
                        </a:rPr>
                        <a:t>Отсутствует</a:t>
                      </a:r>
                      <a:endParaRPr lang="en-US" sz="17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8782" marR="108782" marT="108782" marB="10878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 err="1">
                          <a:solidFill>
                            <a:schemeClr val="tx1"/>
                          </a:solidFill>
                          <a:effectLst/>
                        </a:rPr>
                        <a:t>Структурировано</a:t>
                      </a:r>
                      <a:endParaRPr lang="en-US" sz="17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8782" marR="108782" marT="108782" marB="10878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103028"/>
                  </a:ext>
                </a:extLst>
              </a:tr>
              <a:tr h="47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Монетизация</a:t>
                      </a:r>
                    </a:p>
                  </a:txBody>
                  <a:tcPr marL="108782" marR="108782" marT="108782" marB="10878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Агрессивная</a:t>
                      </a:r>
                    </a:p>
                  </a:txBody>
                  <a:tcPr marL="108782" marR="108782" marT="108782" marB="10878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Paywall</a:t>
                      </a:r>
                    </a:p>
                  </a:txBody>
                  <a:tcPr marL="108782" marR="108782" marT="108782" marB="10878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 err="1">
                          <a:solidFill>
                            <a:schemeClr val="tx1"/>
                          </a:solidFill>
                          <a:effectLst/>
                        </a:rPr>
                        <a:t>Бесплатно</a:t>
                      </a:r>
                      <a:r>
                        <a:rPr lang="en-US" sz="1700" b="0" dirty="0">
                          <a:solidFill>
                            <a:schemeClr val="tx1"/>
                          </a:solidFill>
                          <a:effectLst/>
                        </a:rPr>
                        <a:t> (MVP)</a:t>
                      </a:r>
                    </a:p>
                  </a:txBody>
                  <a:tcPr marL="108782" marR="108782" marT="108782" marB="10878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454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6082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DB49E-84FF-4B54-B439-DA4827063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73C9FF3A-9685-6110-1E55-0BC14772F137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0EC8B2-7636-CE18-0AC9-1E2D32D5D0A1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3A3A9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Архитектура решения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977C28-F2BB-8FA6-98FA-96CB9A45AF67}"/>
              </a:ext>
            </a:extLst>
          </p:cNvPr>
          <p:cNvSpPr txBox="1"/>
          <p:nvPr/>
        </p:nvSpPr>
        <p:spPr>
          <a:xfrm>
            <a:off x="0" y="1658036"/>
            <a:ext cx="706775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Уровни</a:t>
            </a:r>
            <a:r>
              <a:rPr lang="en-US" sz="2000" b="1" dirty="0"/>
              <a:t> </a:t>
            </a:r>
            <a:r>
              <a:rPr lang="en-US" sz="2000" b="1" dirty="0" err="1"/>
              <a:t>системы</a:t>
            </a:r>
            <a:r>
              <a:rPr lang="en-US" sz="2000" b="1" dirty="0"/>
              <a:t>: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dirty="0" err="1"/>
              <a:t>Уровень</a:t>
            </a:r>
            <a:r>
              <a:rPr lang="en-US" sz="2000" i="1" dirty="0"/>
              <a:t> </a:t>
            </a:r>
            <a:r>
              <a:rPr lang="en-US" sz="2000" i="1" dirty="0" err="1"/>
              <a:t>представления</a:t>
            </a:r>
            <a:r>
              <a:rPr lang="en-US" sz="2000" i="1" dirty="0"/>
              <a:t> (Presentation Layer):</a:t>
            </a:r>
            <a:r>
              <a:rPr lang="en-US" sz="2000" dirty="0"/>
              <a:t> </a:t>
            </a:r>
            <a:r>
              <a:rPr lang="en-US" sz="2000" dirty="0" err="1"/>
              <a:t>Клиентское</a:t>
            </a:r>
            <a:r>
              <a:rPr lang="en-US" sz="2000" dirty="0"/>
              <a:t> </a:t>
            </a:r>
            <a:r>
              <a:rPr lang="en-US" sz="2000" dirty="0" err="1"/>
              <a:t>мобильное</a:t>
            </a:r>
            <a:r>
              <a:rPr lang="en-US" sz="2000" dirty="0"/>
              <a:t> </a:t>
            </a:r>
            <a:r>
              <a:rPr lang="en-US" sz="2000" dirty="0" err="1"/>
              <a:t>приложение</a:t>
            </a:r>
            <a:r>
              <a:rPr lang="en-US" sz="2000" dirty="0"/>
              <a:t>. </a:t>
            </a:r>
            <a:r>
              <a:rPr lang="en-US" sz="2000" dirty="0" err="1"/>
              <a:t>Набор</a:t>
            </a:r>
            <a:r>
              <a:rPr lang="en-US" sz="2000" dirty="0"/>
              <a:t> </a:t>
            </a:r>
            <a:r>
              <a:rPr lang="en-US" sz="2000" dirty="0" err="1"/>
              <a:t>экранов</a:t>
            </a:r>
            <a:r>
              <a:rPr lang="en-US" sz="2000" dirty="0"/>
              <a:t> (</a:t>
            </a:r>
            <a:r>
              <a:rPr lang="en-US" sz="2000" dirty="0" err="1"/>
              <a:t>авторизация</a:t>
            </a:r>
            <a:r>
              <a:rPr lang="en-US" sz="2000" dirty="0"/>
              <a:t>, </a:t>
            </a:r>
            <a:r>
              <a:rPr lang="en-US" sz="2000" dirty="0" err="1"/>
              <a:t>библиотека</a:t>
            </a:r>
            <a:r>
              <a:rPr lang="en-US" sz="2000" dirty="0"/>
              <a:t>, </a:t>
            </a:r>
            <a:r>
              <a:rPr lang="en-US" sz="2000" dirty="0" err="1"/>
              <a:t>уроки</a:t>
            </a:r>
            <a:r>
              <a:rPr lang="en-US" sz="2000" dirty="0"/>
              <a:t>, </a:t>
            </a:r>
            <a:r>
              <a:rPr lang="en-US" sz="2000" dirty="0" err="1"/>
              <a:t>профиль</a:t>
            </a:r>
            <a:r>
              <a:rPr lang="en-US" sz="2000" dirty="0"/>
              <a:t>) и </a:t>
            </a:r>
            <a:r>
              <a:rPr lang="en-US" sz="2000" dirty="0" err="1"/>
              <a:t>атомарных</a:t>
            </a:r>
            <a:r>
              <a:rPr lang="en-US" sz="2000" dirty="0"/>
              <a:t> UI-</a:t>
            </a:r>
            <a:r>
              <a:rPr lang="en-US" sz="2000" dirty="0" err="1"/>
              <a:t>компонентов</a:t>
            </a:r>
            <a:r>
              <a:rPr lang="en-US" sz="2000" dirty="0"/>
              <a:t>.</a:t>
            </a:r>
            <a:endParaRPr lang="pl-PL" sz="2000" dirty="0"/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dirty="0" err="1"/>
              <a:t>Бизнес-логика</a:t>
            </a:r>
            <a:r>
              <a:rPr lang="en-US" sz="2000" i="1" dirty="0"/>
              <a:t> (Domain Layer):</a:t>
            </a:r>
            <a:r>
              <a:rPr lang="en-US" sz="2000" dirty="0"/>
              <a:t> </a:t>
            </a:r>
            <a:r>
              <a:rPr lang="en-US" sz="2000" dirty="0" err="1"/>
              <a:t>Модуль</a:t>
            </a:r>
            <a:r>
              <a:rPr lang="en-US" sz="2000" dirty="0"/>
              <a:t> </a:t>
            </a:r>
            <a:r>
              <a:rPr lang="en-US" sz="2000" dirty="0" err="1"/>
              <a:t>управления</a:t>
            </a:r>
            <a:r>
              <a:rPr lang="en-US" sz="2000" dirty="0"/>
              <a:t> </a:t>
            </a:r>
            <a:r>
              <a:rPr lang="en-US" sz="2000" dirty="0" err="1"/>
              <a:t>состояниями</a:t>
            </a:r>
            <a:r>
              <a:rPr lang="en-US" sz="2000" dirty="0"/>
              <a:t> </a:t>
            </a:r>
            <a:r>
              <a:rPr lang="en-US" sz="2000" dirty="0" err="1"/>
              <a:t>интерактивного</a:t>
            </a:r>
            <a:r>
              <a:rPr lang="en-US" sz="2000" dirty="0"/>
              <a:t> </a:t>
            </a:r>
            <a:r>
              <a:rPr lang="en-US" sz="2000" dirty="0" err="1"/>
              <a:t>урока</a:t>
            </a:r>
            <a:r>
              <a:rPr lang="en-US" sz="2000" dirty="0"/>
              <a:t>, </a:t>
            </a:r>
            <a:r>
              <a:rPr lang="en-US" sz="2000" dirty="0" err="1"/>
              <a:t>обработки</a:t>
            </a:r>
            <a:r>
              <a:rPr lang="en-US" sz="2000" dirty="0"/>
              <a:t> </a:t>
            </a:r>
            <a:r>
              <a:rPr lang="en-US" sz="2000" dirty="0" err="1"/>
              <a:t>ответов</a:t>
            </a:r>
            <a:r>
              <a:rPr lang="en-US" sz="2000" dirty="0"/>
              <a:t> </a:t>
            </a:r>
            <a:r>
              <a:rPr lang="en-US" sz="2000" dirty="0" err="1"/>
              <a:t>пользователя</a:t>
            </a:r>
            <a:r>
              <a:rPr lang="en-US" sz="2000" dirty="0"/>
              <a:t> и </a:t>
            </a:r>
            <a:r>
              <a:rPr lang="en-US" sz="2000" dirty="0" err="1"/>
              <a:t>расчета</a:t>
            </a:r>
            <a:r>
              <a:rPr lang="en-US" sz="2000" dirty="0"/>
              <a:t> </a:t>
            </a:r>
            <a:r>
              <a:rPr lang="en-US" sz="2000" dirty="0" err="1"/>
              <a:t>статистики</a:t>
            </a:r>
            <a:r>
              <a:rPr lang="en-US" sz="2000" dirty="0"/>
              <a:t> </a:t>
            </a:r>
            <a:r>
              <a:rPr lang="en-US" sz="2000" dirty="0" err="1"/>
              <a:t>серий</a:t>
            </a:r>
            <a:r>
              <a:rPr lang="en-US" sz="2000" dirty="0"/>
              <a:t> </a:t>
            </a:r>
            <a:r>
              <a:rPr lang="en-US" sz="2000" dirty="0" err="1"/>
              <a:t>дней</a:t>
            </a:r>
            <a:r>
              <a:rPr lang="en-US" sz="2000" dirty="0"/>
              <a:t> (streakLogic.js).</a:t>
            </a:r>
            <a:endParaRPr lang="pl-PL" sz="2000" dirty="0"/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dirty="0" err="1"/>
              <a:t>Уровень</a:t>
            </a:r>
            <a:r>
              <a:rPr lang="en-US" sz="2000" i="1" dirty="0"/>
              <a:t> </a:t>
            </a:r>
            <a:r>
              <a:rPr lang="en-US" sz="2000" i="1" dirty="0" err="1"/>
              <a:t>данных</a:t>
            </a:r>
            <a:r>
              <a:rPr lang="en-US" sz="2000" i="1" dirty="0"/>
              <a:t> (Data Layer):</a:t>
            </a:r>
            <a:r>
              <a:rPr lang="en-US" sz="2000" dirty="0"/>
              <a:t> </a:t>
            </a:r>
            <a:r>
              <a:rPr lang="en-US" sz="2000" dirty="0" err="1"/>
              <a:t>Взаимодействие</a:t>
            </a:r>
            <a:r>
              <a:rPr lang="en-US" sz="2000" dirty="0"/>
              <a:t> с </a:t>
            </a:r>
            <a:r>
              <a:rPr lang="en-US" sz="2000" dirty="0" err="1"/>
              <a:t>удаленной</a:t>
            </a:r>
            <a:r>
              <a:rPr lang="en-US" sz="2000" dirty="0"/>
              <a:t> </a:t>
            </a:r>
            <a:r>
              <a:rPr lang="en-US" sz="2000" dirty="0" err="1"/>
              <a:t>базой</a:t>
            </a:r>
            <a:r>
              <a:rPr lang="en-US" sz="2000" dirty="0"/>
              <a:t> </a:t>
            </a:r>
            <a:r>
              <a:rPr lang="en-US" sz="2000" dirty="0" err="1"/>
              <a:t>данных</a:t>
            </a:r>
            <a:r>
              <a:rPr lang="en-US" sz="2000" dirty="0"/>
              <a:t> </a:t>
            </a:r>
            <a:r>
              <a:rPr lang="en-US" sz="2000" dirty="0" err="1"/>
              <a:t>по</a:t>
            </a:r>
            <a:r>
              <a:rPr lang="en-US" sz="2000" dirty="0"/>
              <a:t> </a:t>
            </a:r>
            <a:r>
              <a:rPr lang="en-US" sz="2000" dirty="0" err="1"/>
              <a:t>протоколу</a:t>
            </a:r>
            <a:r>
              <a:rPr lang="en-US" sz="2000" dirty="0"/>
              <a:t> </a:t>
            </a:r>
            <a:r>
              <a:rPr lang="en-US" sz="2000" dirty="0" err="1"/>
              <a:t>WebSockets</a:t>
            </a:r>
            <a:r>
              <a:rPr lang="en-US" sz="2000" dirty="0"/>
              <a:t>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мгновенной</a:t>
            </a:r>
            <a:r>
              <a:rPr lang="en-US" sz="2000" dirty="0"/>
              <a:t> </a:t>
            </a:r>
            <a:r>
              <a:rPr lang="en-US" sz="2000" dirty="0" err="1"/>
              <a:t>синхронизации</a:t>
            </a:r>
            <a:r>
              <a:rPr lang="en-US" sz="2000" dirty="0"/>
              <a:t>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A699CF-D1CA-B9CE-BB48-D3F8066A6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6</a:t>
            </a:fld>
            <a:endParaRPr lang="ru-RU"/>
          </a:p>
        </p:txBody>
      </p:sp>
      <p:pic>
        <p:nvPicPr>
          <p:cNvPr id="2" name="image25.png">
            <a:extLst>
              <a:ext uri="{FF2B5EF4-FFF2-40B4-BE49-F238E27FC236}">
                <a16:creationId xmlns:a16="http://schemas.microsoft.com/office/drawing/2014/main" id="{97DBC56A-6026-7536-307F-CCDB0DFD61A8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7024347" y="1081432"/>
            <a:ext cx="5167653" cy="514833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85638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6815A-1678-F1DA-E79A-A2C457C9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D9BF9691-EC40-26D9-E6DE-FA93B3C6E763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675066-AE70-4CD4-1AB9-7D1BDC7D5E23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3A3A9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Используемые технологии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5C135E-8834-9F8B-0A3E-968322B3700C}"/>
              </a:ext>
            </a:extLst>
          </p:cNvPr>
          <p:cNvSpPr txBox="1"/>
          <p:nvPr/>
        </p:nvSpPr>
        <p:spPr>
          <a:xfrm>
            <a:off x="334963" y="2828836"/>
            <a:ext cx="1152207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React Native</a:t>
            </a:r>
            <a:r>
              <a:rPr lang="pl-PL" sz="2000" b="1" dirty="0"/>
              <a:t>(JavaScript)</a:t>
            </a:r>
            <a:r>
              <a:rPr lang="en-US" sz="2000" b="1" dirty="0"/>
              <a:t> + Expo:</a:t>
            </a:r>
            <a:r>
              <a:rPr lang="en-US" sz="2000" dirty="0"/>
              <a:t> </a:t>
            </a:r>
            <a:r>
              <a:rPr lang="en-US" sz="2000" dirty="0" err="1"/>
              <a:t>Кроссплатформенная</a:t>
            </a:r>
            <a:r>
              <a:rPr lang="en-US" sz="2000" dirty="0"/>
              <a:t> </a:t>
            </a:r>
            <a:r>
              <a:rPr lang="en-US" sz="2000" dirty="0" err="1"/>
              <a:t>разработка</a:t>
            </a:r>
            <a:r>
              <a:rPr lang="en-US" sz="2000" dirty="0"/>
              <a:t> (</a:t>
            </a:r>
            <a:r>
              <a:rPr lang="en-US" sz="2000" dirty="0" err="1"/>
              <a:t>один</a:t>
            </a:r>
            <a:r>
              <a:rPr lang="en-US" sz="2000" dirty="0"/>
              <a:t> </a:t>
            </a:r>
            <a:r>
              <a:rPr lang="en-US" sz="2000" dirty="0" err="1"/>
              <a:t>код</a:t>
            </a:r>
            <a:r>
              <a:rPr lang="en-US" sz="2000" dirty="0"/>
              <a:t> </a:t>
            </a:r>
            <a:r>
              <a:rPr lang="en-US" sz="2000" dirty="0" err="1"/>
              <a:t>для</a:t>
            </a:r>
            <a:r>
              <a:rPr lang="en-US" sz="2000" dirty="0"/>
              <a:t> iOS и Android), </a:t>
            </a:r>
            <a:r>
              <a:rPr lang="en-US" sz="2000" dirty="0" err="1"/>
              <a:t>нативная</a:t>
            </a:r>
            <a:r>
              <a:rPr lang="en-US" sz="2000" dirty="0"/>
              <a:t> </a:t>
            </a:r>
            <a:r>
              <a:rPr lang="en-US" sz="2000" dirty="0" err="1"/>
              <a:t>производительность</a:t>
            </a:r>
            <a:r>
              <a:rPr lang="en-US" sz="2000" dirty="0"/>
              <a:t> </a:t>
            </a:r>
            <a:r>
              <a:rPr lang="en-US" sz="2000" dirty="0" err="1"/>
              <a:t>интерфейса</a:t>
            </a:r>
            <a:r>
              <a:rPr lang="en-US" sz="2000" dirty="0"/>
              <a:t>, </a:t>
            </a:r>
            <a:r>
              <a:rPr lang="en-US" sz="2000" dirty="0" err="1"/>
              <a:t>высокая</a:t>
            </a:r>
            <a:r>
              <a:rPr lang="en-US" sz="2000" dirty="0"/>
              <a:t> </a:t>
            </a:r>
            <a:r>
              <a:rPr lang="en-US" sz="2000" dirty="0" err="1"/>
              <a:t>скорость</a:t>
            </a:r>
            <a:r>
              <a:rPr lang="en-US" sz="2000" dirty="0"/>
              <a:t> </a:t>
            </a:r>
            <a:r>
              <a:rPr lang="en-US" sz="2000" dirty="0" err="1"/>
              <a:t>сборки</a:t>
            </a:r>
            <a:r>
              <a:rPr lang="en-US" sz="2000" dirty="0"/>
              <a:t> MVP </a:t>
            </a:r>
            <a:r>
              <a:rPr lang="en-US" sz="2000" dirty="0" err="1"/>
              <a:t>через</a:t>
            </a:r>
            <a:r>
              <a:rPr lang="en-US" sz="2000" dirty="0"/>
              <a:t> </a:t>
            </a:r>
            <a:r>
              <a:rPr lang="en-US" sz="2000" dirty="0" err="1"/>
              <a:t>сервисы</a:t>
            </a:r>
            <a:r>
              <a:rPr lang="en-US" sz="2000" dirty="0"/>
              <a:t> EAS.</a:t>
            </a: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Firebase (Backend-as-a-Service):</a:t>
            </a:r>
            <a:r>
              <a:rPr lang="en-US" sz="2000" dirty="0"/>
              <a:t> </a:t>
            </a:r>
            <a:r>
              <a:rPr lang="en-US" sz="2000" i="1" dirty="0"/>
              <a:t>Firebase Auth</a:t>
            </a:r>
            <a:r>
              <a:rPr lang="en-US" sz="2000" dirty="0"/>
              <a:t> — </a:t>
            </a:r>
            <a:r>
              <a:rPr lang="en-US" sz="2000" dirty="0" err="1"/>
              <a:t>безопасная</a:t>
            </a:r>
            <a:r>
              <a:rPr lang="en-US" sz="2000" dirty="0"/>
              <a:t> </a:t>
            </a:r>
            <a:r>
              <a:rPr lang="en-US" sz="2000" dirty="0" err="1"/>
              <a:t>облачная</a:t>
            </a:r>
            <a:r>
              <a:rPr lang="en-US" sz="2000" dirty="0"/>
              <a:t> </a:t>
            </a:r>
            <a:r>
              <a:rPr lang="en-US" sz="2000" dirty="0" err="1"/>
              <a:t>авторизация</a:t>
            </a:r>
            <a:r>
              <a:rPr lang="en-US" sz="2000" dirty="0"/>
              <a:t> </a:t>
            </a:r>
            <a:r>
              <a:rPr lang="en-US" sz="2000" dirty="0" err="1"/>
              <a:t>пользователей</a:t>
            </a:r>
            <a:r>
              <a:rPr lang="en-US" sz="2000" dirty="0"/>
              <a:t>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i="1" dirty="0"/>
              <a:t>Cloud </a:t>
            </a:r>
            <a:r>
              <a:rPr lang="en-US" sz="2000" i="1" dirty="0" err="1"/>
              <a:t>Firestore</a:t>
            </a:r>
            <a:r>
              <a:rPr lang="en-US" sz="2000" dirty="0"/>
              <a:t> — </a:t>
            </a:r>
            <a:r>
              <a:rPr lang="en-US" sz="2000" dirty="0" err="1"/>
              <a:t>документо-ориентированная</a:t>
            </a:r>
            <a:r>
              <a:rPr lang="en-US" sz="2000" dirty="0"/>
              <a:t> </a:t>
            </a:r>
            <a:r>
              <a:rPr lang="en-US" sz="2000" dirty="0" err="1"/>
              <a:t>база</a:t>
            </a:r>
            <a:r>
              <a:rPr lang="en-US" sz="2000" dirty="0"/>
              <a:t> </a:t>
            </a:r>
            <a:r>
              <a:rPr lang="en-US" sz="2000" dirty="0" err="1"/>
              <a:t>данных</a:t>
            </a:r>
            <a:r>
              <a:rPr lang="en-US" sz="2000" dirty="0"/>
              <a:t> </a:t>
            </a:r>
            <a:r>
              <a:rPr lang="en-US" sz="2000" dirty="0" err="1"/>
              <a:t>реального</a:t>
            </a:r>
            <a:r>
              <a:rPr lang="en-US" sz="2000" dirty="0"/>
              <a:t> </a:t>
            </a:r>
            <a:r>
              <a:rPr lang="en-US" sz="2000" dirty="0" err="1"/>
              <a:t>времени</a:t>
            </a:r>
            <a:r>
              <a:rPr lang="en-US" sz="2000" dirty="0"/>
              <a:t>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i="1" dirty="0"/>
              <a:t>Cloud Functions</a:t>
            </a:r>
            <a:r>
              <a:rPr lang="en-US" sz="2000" dirty="0"/>
              <a:t> — </a:t>
            </a:r>
            <a:r>
              <a:rPr lang="en-US" sz="2000" dirty="0" err="1"/>
              <a:t>изолированная</a:t>
            </a:r>
            <a:r>
              <a:rPr lang="en-US" sz="2000" dirty="0"/>
              <a:t> </a:t>
            </a:r>
            <a:r>
              <a:rPr lang="en-US" sz="2000" dirty="0" err="1"/>
              <a:t>серверная</a:t>
            </a:r>
            <a:r>
              <a:rPr lang="en-US" sz="2000" dirty="0"/>
              <a:t> </a:t>
            </a:r>
            <a:r>
              <a:rPr lang="en-US" sz="2000" dirty="0" err="1"/>
              <a:t>логика</a:t>
            </a:r>
            <a:r>
              <a:rPr lang="en-US" sz="2000" dirty="0"/>
              <a:t>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F6FAF2-7692-1872-7B6C-34C012605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7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911D5F0-9421-180B-394A-1E40FE16D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661" y="1340622"/>
            <a:ext cx="2881230" cy="77673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42E0038-EE93-F8F6-CF0A-E1E4A264B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6309" y="1137466"/>
            <a:ext cx="1197134" cy="1183050"/>
          </a:xfrm>
          <a:prstGeom prst="rect">
            <a:avLst/>
          </a:prstGeom>
        </p:spPr>
      </p:pic>
      <p:pic>
        <p:nvPicPr>
          <p:cNvPr id="11" name="Рисунок 10" descr="Picture background">
            <a:extLst>
              <a:ext uri="{FF2B5EF4-FFF2-40B4-BE49-F238E27FC236}">
                <a16:creationId xmlns:a16="http://schemas.microsoft.com/office/drawing/2014/main" id="{7CE2B968-88E3-63BD-DCDF-253A9F353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5481" y="1252524"/>
            <a:ext cx="976687" cy="976687"/>
          </a:xfrm>
          <a:prstGeom prst="rect">
            <a:avLst/>
          </a:prstGeom>
        </p:spPr>
      </p:pic>
      <p:pic>
        <p:nvPicPr>
          <p:cNvPr id="14" name="Рисунок 13" descr="Picture background">
            <a:extLst>
              <a:ext uri="{FF2B5EF4-FFF2-40B4-BE49-F238E27FC236}">
                <a16:creationId xmlns:a16="http://schemas.microsoft.com/office/drawing/2014/main" id="{CBFE73E9-66BA-5F5D-6BE9-808AF0E80A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6384" y="969587"/>
            <a:ext cx="1688432" cy="16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377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3BA9F-35A8-D264-65E9-7A9A9031E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165960F8-0DD1-A18F-3946-A300768988FA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3A85D4-5CB8-16B3-6F61-E4757DCDDA41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3A3A9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База данных и модули системы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0D5CE2-CF7D-4B5E-23EC-7D67CEAF0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8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D11861-E39E-F957-0B2E-0BC7ECA100FE}"/>
              </a:ext>
            </a:extLst>
          </p:cNvPr>
          <p:cNvSpPr txBox="1"/>
          <p:nvPr/>
        </p:nvSpPr>
        <p:spPr>
          <a:xfrm>
            <a:off x="334963" y="2165852"/>
            <a:ext cx="952648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 err="1"/>
              <a:t>Выбор</a:t>
            </a:r>
            <a:r>
              <a:rPr lang="en-US" sz="2000" b="1" dirty="0"/>
              <a:t> </a:t>
            </a:r>
            <a:r>
              <a:rPr lang="en-US" sz="2000" b="1" dirty="0" err="1"/>
              <a:t>модели</a:t>
            </a:r>
            <a:r>
              <a:rPr lang="en-US" sz="2000" b="1" dirty="0"/>
              <a:t> </a:t>
            </a:r>
            <a:r>
              <a:rPr lang="en-US" sz="2000" b="1" dirty="0" err="1"/>
              <a:t>данных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Использование</a:t>
            </a:r>
            <a:r>
              <a:rPr lang="en-US" sz="2000" dirty="0"/>
              <a:t> NoSQL </a:t>
            </a:r>
            <a:r>
              <a:rPr lang="en-US" sz="2000" dirty="0" err="1"/>
              <a:t>подхода</a:t>
            </a:r>
            <a:r>
              <a:rPr lang="en-US" sz="2000" dirty="0"/>
              <a:t> </a:t>
            </a:r>
            <a:r>
              <a:rPr lang="en-US" sz="2000" dirty="0" err="1"/>
              <a:t>обусловлено</a:t>
            </a:r>
            <a:r>
              <a:rPr lang="en-US" sz="2000" dirty="0"/>
              <a:t> </a:t>
            </a:r>
            <a:r>
              <a:rPr lang="en-US" sz="2000" dirty="0" err="1"/>
              <a:t>гибкостью</a:t>
            </a:r>
            <a:r>
              <a:rPr lang="en-US" sz="2000" dirty="0"/>
              <a:t> </a:t>
            </a:r>
            <a:r>
              <a:rPr lang="en-US" sz="2000" dirty="0" err="1"/>
              <a:t>структуры</a:t>
            </a:r>
            <a:r>
              <a:rPr lang="en-US" sz="2000" dirty="0"/>
              <a:t> и </a:t>
            </a:r>
            <a:r>
              <a:rPr lang="en-US" sz="2000" dirty="0" err="1"/>
              <a:t>высокой</a:t>
            </a:r>
            <a:r>
              <a:rPr lang="en-US" sz="2000" dirty="0"/>
              <a:t> </a:t>
            </a:r>
            <a:r>
              <a:rPr lang="en-US" sz="2000" dirty="0" err="1"/>
              <a:t>скоростью</a:t>
            </a:r>
            <a:r>
              <a:rPr lang="en-US" sz="2000" dirty="0"/>
              <a:t> </a:t>
            </a:r>
            <a:r>
              <a:rPr lang="en-US" sz="2000" dirty="0" err="1"/>
              <a:t>чтения</a:t>
            </a:r>
            <a:r>
              <a:rPr lang="en-US" sz="2000" dirty="0"/>
              <a:t> </a:t>
            </a:r>
            <a:r>
              <a:rPr lang="en-US" sz="2000" dirty="0" err="1"/>
              <a:t>данных</a:t>
            </a:r>
            <a:r>
              <a:rPr lang="en-US" sz="2000" dirty="0"/>
              <a:t>.</a:t>
            </a:r>
            <a:endParaRPr lang="pl-PL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 err="1"/>
              <a:t>Принцип</a:t>
            </a:r>
            <a:r>
              <a:rPr lang="en-US" sz="2000" b="1" dirty="0"/>
              <a:t> </a:t>
            </a:r>
            <a:r>
              <a:rPr lang="en-US" sz="2000" b="1" dirty="0" err="1"/>
              <a:t>денормализации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Данные</a:t>
            </a:r>
            <a:r>
              <a:rPr lang="en-US" sz="2000" dirty="0"/>
              <a:t> о </a:t>
            </a:r>
            <a:r>
              <a:rPr lang="en-US" sz="2000" dirty="0" err="1"/>
              <a:t>текущем</a:t>
            </a:r>
            <a:r>
              <a:rPr lang="en-US" sz="2000" dirty="0"/>
              <a:t> </a:t>
            </a:r>
            <a:r>
              <a:rPr lang="en-US" sz="2000" dirty="0" err="1"/>
              <a:t>прогрессе</a:t>
            </a:r>
            <a:r>
              <a:rPr lang="en-US" sz="2000" dirty="0"/>
              <a:t> и </a:t>
            </a:r>
            <a:r>
              <a:rPr lang="en-US" sz="2000" dirty="0" err="1"/>
              <a:t>истории</a:t>
            </a:r>
            <a:r>
              <a:rPr lang="en-US" sz="2000" dirty="0"/>
              <a:t> </a:t>
            </a:r>
            <a:r>
              <a:rPr lang="en-US" sz="2000" dirty="0" err="1"/>
              <a:t>ошибок</a:t>
            </a:r>
            <a:r>
              <a:rPr lang="en-US" sz="2000" dirty="0"/>
              <a:t> </a:t>
            </a:r>
            <a:r>
              <a:rPr lang="en-US" sz="2000" dirty="0" err="1"/>
              <a:t>пользователя</a:t>
            </a:r>
            <a:r>
              <a:rPr lang="en-US" sz="2000" dirty="0"/>
              <a:t> </a:t>
            </a:r>
            <a:r>
              <a:rPr lang="en-US" sz="2000" dirty="0" err="1"/>
              <a:t>внедрены</a:t>
            </a:r>
            <a:r>
              <a:rPr lang="en-US" sz="2000" dirty="0"/>
              <a:t> </a:t>
            </a:r>
            <a:r>
              <a:rPr lang="en-US" sz="2000" dirty="0" err="1"/>
              <a:t>непосредственно</a:t>
            </a:r>
            <a:r>
              <a:rPr lang="en-US" sz="2000" dirty="0"/>
              <a:t> в </a:t>
            </a:r>
            <a:r>
              <a:rPr lang="en-US" sz="2000" dirty="0" err="1"/>
              <a:t>документ</a:t>
            </a:r>
            <a:r>
              <a:rPr lang="en-US" sz="2000" dirty="0"/>
              <a:t> </a:t>
            </a:r>
            <a:r>
              <a:rPr lang="en-US" sz="2000" dirty="0" err="1"/>
              <a:t>профиля</a:t>
            </a:r>
            <a:r>
              <a:rPr lang="en-US" sz="2000" dirty="0"/>
              <a:t>, </a:t>
            </a:r>
            <a:r>
              <a:rPr lang="en-US" sz="2000" dirty="0" err="1"/>
              <a:t>что</a:t>
            </a:r>
            <a:r>
              <a:rPr lang="en-US" sz="2000" dirty="0"/>
              <a:t> </a:t>
            </a:r>
            <a:r>
              <a:rPr lang="en-US" sz="2000" dirty="0" err="1"/>
              <a:t>минимизирует</a:t>
            </a:r>
            <a:r>
              <a:rPr lang="en-US" sz="2000" dirty="0"/>
              <a:t> </a:t>
            </a:r>
            <a:r>
              <a:rPr lang="en-US" sz="2000" dirty="0" err="1"/>
              <a:t>количество</a:t>
            </a:r>
            <a:r>
              <a:rPr lang="en-US" sz="2000" dirty="0"/>
              <a:t> </a:t>
            </a:r>
            <a:r>
              <a:rPr lang="en-US" sz="2000" dirty="0" err="1"/>
              <a:t>сетевых</a:t>
            </a:r>
            <a:r>
              <a:rPr lang="en-US" sz="2000" dirty="0"/>
              <a:t> </a:t>
            </a:r>
            <a:r>
              <a:rPr lang="en-US" sz="2000" dirty="0" err="1"/>
              <a:t>запросов</a:t>
            </a:r>
            <a:r>
              <a:rPr lang="en-US" sz="2000" dirty="0"/>
              <a:t>.</a:t>
            </a:r>
            <a:endParaRPr lang="pl-PL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 err="1"/>
              <a:t>Состав</a:t>
            </a:r>
            <a:r>
              <a:rPr lang="en-US" sz="2000" b="1" dirty="0"/>
              <a:t> </a:t>
            </a:r>
            <a:r>
              <a:rPr lang="en-US" sz="2000" b="1" dirty="0" err="1"/>
              <a:t>основных</a:t>
            </a:r>
            <a:r>
              <a:rPr lang="en-US" sz="2000" b="1" dirty="0"/>
              <a:t> </a:t>
            </a:r>
            <a:r>
              <a:rPr lang="en-US" sz="2000" b="1" dirty="0" err="1"/>
              <a:t>коллекций</a:t>
            </a:r>
            <a:r>
              <a:rPr lang="en-US" sz="2000" b="1" dirty="0"/>
              <a:t> БД: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ourier New" panose="02070309020205020404" pitchFamily="49" charset="0"/>
              </a:rPr>
              <a:t>users</a:t>
            </a:r>
            <a:r>
              <a:rPr lang="en-US" sz="2000" dirty="0"/>
              <a:t> — </a:t>
            </a:r>
            <a:r>
              <a:rPr lang="en-US" sz="2000" dirty="0" err="1"/>
              <a:t>учетные</a:t>
            </a:r>
            <a:r>
              <a:rPr lang="en-US" sz="2000" dirty="0"/>
              <a:t> </a:t>
            </a:r>
            <a:r>
              <a:rPr lang="en-US" sz="2000" dirty="0" err="1"/>
              <a:t>записи</a:t>
            </a:r>
            <a:r>
              <a:rPr lang="en-US" sz="2000" dirty="0"/>
              <a:t>, </a:t>
            </a:r>
            <a:r>
              <a:rPr lang="en-US" sz="2000" dirty="0" err="1"/>
              <a:t>текущий</a:t>
            </a:r>
            <a:r>
              <a:rPr lang="en-US" sz="2000" dirty="0"/>
              <a:t> </a:t>
            </a:r>
            <a:r>
              <a:rPr lang="en-US" sz="2000" dirty="0" err="1"/>
              <a:t>прогресс</a:t>
            </a:r>
            <a:r>
              <a:rPr lang="en-US" sz="2000" dirty="0"/>
              <a:t>, </a:t>
            </a:r>
            <a:r>
              <a:rPr lang="en-US" sz="2000" dirty="0" err="1"/>
              <a:t>параметры</a:t>
            </a:r>
            <a:r>
              <a:rPr lang="en-US" sz="2000" dirty="0"/>
              <a:t> </a:t>
            </a:r>
            <a:r>
              <a:rPr lang="en-US" sz="2000" dirty="0" err="1"/>
              <a:t>геймификации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ourier New" panose="02070309020205020404" pitchFamily="49" charset="0"/>
              </a:rPr>
              <a:t>lessons</a:t>
            </a:r>
            <a:r>
              <a:rPr lang="en-US" sz="2000" dirty="0"/>
              <a:t> — </a:t>
            </a:r>
            <a:r>
              <a:rPr lang="en-US" sz="2000" dirty="0" err="1"/>
              <a:t>структурированные</a:t>
            </a:r>
            <a:r>
              <a:rPr lang="en-US" sz="2000" dirty="0"/>
              <a:t> </a:t>
            </a:r>
            <a:r>
              <a:rPr lang="en-US" sz="2000" dirty="0" err="1"/>
              <a:t>массивы</a:t>
            </a:r>
            <a:r>
              <a:rPr lang="en-US" sz="2000" dirty="0"/>
              <a:t> </a:t>
            </a:r>
            <a:r>
              <a:rPr lang="en-US" sz="2000" dirty="0" err="1"/>
              <a:t>данных</a:t>
            </a:r>
            <a:r>
              <a:rPr lang="en-US" sz="2000" dirty="0"/>
              <a:t>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уроков</a:t>
            </a:r>
            <a:r>
              <a:rPr lang="en-US" sz="2000" dirty="0"/>
              <a:t>, </a:t>
            </a:r>
            <a:r>
              <a:rPr lang="en-US" sz="2000" dirty="0" err="1"/>
              <a:t>тестов</a:t>
            </a:r>
            <a:r>
              <a:rPr lang="en-US" sz="2000" dirty="0"/>
              <a:t> и </a:t>
            </a:r>
            <a:r>
              <a:rPr lang="en-US" sz="2000" dirty="0" err="1"/>
              <a:t>квизов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latin typeface="Courier New" panose="02070309020205020404" pitchFamily="49" charset="0"/>
              </a:rPr>
              <a:t>grammar_library</a:t>
            </a:r>
            <a:r>
              <a:rPr lang="en-US" sz="2000" dirty="0"/>
              <a:t> — </a:t>
            </a:r>
            <a:r>
              <a:rPr lang="en-US" sz="2000" dirty="0" err="1"/>
              <a:t>теоретические</a:t>
            </a:r>
            <a:r>
              <a:rPr lang="en-US" sz="2000" dirty="0"/>
              <a:t> </a:t>
            </a:r>
            <a:r>
              <a:rPr lang="en-US" sz="2000" dirty="0" err="1"/>
              <a:t>справочные</a:t>
            </a:r>
            <a:r>
              <a:rPr lang="en-US" sz="2000" dirty="0"/>
              <a:t> </a:t>
            </a:r>
            <a:r>
              <a:rPr lang="en-US" sz="2000" dirty="0" err="1"/>
              <a:t>материалы</a:t>
            </a:r>
            <a:r>
              <a:rPr lang="en-US" sz="2000" dirty="0"/>
              <a:t> и </a:t>
            </a:r>
            <a:r>
              <a:rPr lang="en-US" sz="2000" dirty="0" err="1"/>
              <a:t>таблицы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8762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BBEC4-6826-E130-F029-AD8AD952F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BD8B78FD-5249-D1A4-0A8E-B3288E3BBFCD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EFABA1-B313-A3E1-C233-AD8A7EE8DD66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3A3A9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Ключевой функционал и тестирование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2DD5A3-B4C7-8D49-1A62-8F32C118F676}"/>
              </a:ext>
            </a:extLst>
          </p:cNvPr>
          <p:cNvSpPr txBox="1"/>
          <p:nvPr/>
        </p:nvSpPr>
        <p:spPr>
          <a:xfrm>
            <a:off x="334963" y="1720840"/>
            <a:ext cx="1152207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/>
              <a:t>Интерактивные</a:t>
            </a:r>
            <a:r>
              <a:rPr lang="en-US" sz="2400" b="1" dirty="0"/>
              <a:t> </a:t>
            </a:r>
            <a:r>
              <a:rPr lang="en-US" sz="2400" b="1" dirty="0" err="1"/>
              <a:t>тренировки</a:t>
            </a:r>
            <a:r>
              <a:rPr lang="en-US" sz="2400" b="1" dirty="0"/>
              <a:t>:</a:t>
            </a:r>
            <a:r>
              <a:rPr lang="en-US" sz="2400" dirty="0"/>
              <a:t> </a:t>
            </a:r>
            <a:r>
              <a:rPr lang="en-US" sz="2400" dirty="0" err="1"/>
              <a:t>система</a:t>
            </a:r>
            <a:r>
              <a:rPr lang="en-US" sz="2400" dirty="0"/>
              <a:t> </a:t>
            </a:r>
            <a:r>
              <a:rPr lang="en-US" sz="2400" dirty="0" err="1"/>
              <a:t>квиз-карточек</a:t>
            </a:r>
            <a:r>
              <a:rPr lang="en-US" sz="2400" dirty="0"/>
              <a:t> с </a:t>
            </a:r>
            <a:r>
              <a:rPr lang="en-US" sz="2400" dirty="0" err="1"/>
              <a:t>мгновенной</a:t>
            </a:r>
            <a:r>
              <a:rPr lang="en-US" sz="2400" dirty="0"/>
              <a:t> </a:t>
            </a:r>
            <a:r>
              <a:rPr lang="en-US" sz="2400" dirty="0" err="1"/>
              <a:t>аудио-визуальной</a:t>
            </a:r>
            <a:r>
              <a:rPr lang="en-US" sz="2400" dirty="0"/>
              <a:t> </a:t>
            </a:r>
            <a:r>
              <a:rPr lang="en-US" sz="2400" dirty="0" err="1"/>
              <a:t>обратной</a:t>
            </a:r>
            <a:r>
              <a:rPr lang="en-US" sz="2400" dirty="0"/>
              <a:t> </a:t>
            </a:r>
            <a:r>
              <a:rPr lang="en-US" sz="2400" dirty="0" err="1"/>
              <a:t>связью</a:t>
            </a:r>
            <a:r>
              <a:rPr lang="en-US" sz="2400" dirty="0"/>
              <a:t> и </a:t>
            </a:r>
            <a:r>
              <a:rPr lang="en-US" sz="2400" dirty="0" err="1"/>
              <a:t>валидацией</a:t>
            </a:r>
            <a:r>
              <a:rPr lang="en-US" sz="2400" dirty="0"/>
              <a:t> </a:t>
            </a:r>
            <a:r>
              <a:rPr lang="en-US" sz="2400" dirty="0" err="1"/>
              <a:t>греческих</a:t>
            </a:r>
            <a:r>
              <a:rPr lang="en-US" sz="2400" dirty="0"/>
              <a:t> </a:t>
            </a:r>
            <a:r>
              <a:rPr lang="en-US" sz="2400" dirty="0" err="1"/>
              <a:t>ударений</a:t>
            </a:r>
            <a:r>
              <a:rPr lang="en-US" sz="2400" dirty="0"/>
              <a:t>.</a:t>
            </a:r>
            <a:endParaRPr lang="ru-RU" sz="2400" dirty="0"/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/>
              <a:t>Карта</a:t>
            </a:r>
            <a:r>
              <a:rPr lang="en-US" sz="2400" b="1" dirty="0"/>
              <a:t> </a:t>
            </a:r>
            <a:r>
              <a:rPr lang="en-US" sz="2400" b="1" dirty="0" err="1"/>
              <a:t>обучения</a:t>
            </a:r>
            <a:r>
              <a:rPr lang="en-US" sz="2400" b="1" dirty="0"/>
              <a:t>:</a:t>
            </a:r>
            <a:r>
              <a:rPr lang="en-US" sz="2400" dirty="0"/>
              <a:t> </a:t>
            </a:r>
            <a:r>
              <a:rPr lang="en-US" sz="2400" dirty="0" err="1"/>
              <a:t>визуализация</a:t>
            </a:r>
            <a:r>
              <a:rPr lang="en-US" sz="2400" dirty="0"/>
              <a:t> </a:t>
            </a:r>
            <a:r>
              <a:rPr lang="en-US" sz="2400" dirty="0" err="1"/>
              <a:t>образовательного</a:t>
            </a:r>
            <a:r>
              <a:rPr lang="en-US" sz="2400" dirty="0"/>
              <a:t> </a:t>
            </a:r>
            <a:r>
              <a:rPr lang="en-US" sz="2400" dirty="0" err="1"/>
              <a:t>трека</a:t>
            </a:r>
            <a:r>
              <a:rPr lang="en-US" sz="2400" dirty="0"/>
              <a:t> с </a:t>
            </a:r>
            <a:r>
              <a:rPr lang="en-US" sz="2400" dirty="0" err="1"/>
              <a:t>триггерным</a:t>
            </a:r>
            <a:r>
              <a:rPr lang="en-US" sz="2400" dirty="0"/>
              <a:t> </a:t>
            </a:r>
            <a:r>
              <a:rPr lang="en-US" sz="2400" dirty="0" err="1"/>
              <a:t>открытием</a:t>
            </a:r>
            <a:r>
              <a:rPr lang="en-US" sz="2400" dirty="0"/>
              <a:t> </a:t>
            </a:r>
            <a:r>
              <a:rPr lang="en-US" sz="2400" dirty="0" err="1"/>
              <a:t>новых</a:t>
            </a:r>
            <a:r>
              <a:rPr lang="en-US" sz="2400" dirty="0"/>
              <a:t> </a:t>
            </a:r>
            <a:r>
              <a:rPr lang="en-US" sz="2400" dirty="0" err="1"/>
              <a:t>уровней</a:t>
            </a:r>
            <a:r>
              <a:rPr lang="en-US" sz="2400" dirty="0"/>
              <a:t> и </a:t>
            </a:r>
            <a:r>
              <a:rPr lang="en-US" sz="2400" dirty="0" err="1"/>
              <a:t>уроков</a:t>
            </a:r>
            <a:r>
              <a:rPr lang="en-US" sz="2400" dirty="0"/>
              <a:t>.</a:t>
            </a:r>
            <a:endParaRPr lang="ru-RU" sz="2400" dirty="0"/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/>
              <a:t>Грамматическая</a:t>
            </a:r>
            <a:r>
              <a:rPr lang="en-US" sz="2400" b="1" dirty="0"/>
              <a:t> </a:t>
            </a:r>
            <a:r>
              <a:rPr lang="en-US" sz="2400" b="1" dirty="0" err="1"/>
              <a:t>база</a:t>
            </a:r>
            <a:r>
              <a:rPr lang="en-US" sz="2400" b="1" dirty="0"/>
              <a:t>:</a:t>
            </a:r>
            <a:r>
              <a:rPr lang="en-US" sz="2400" dirty="0"/>
              <a:t> </a:t>
            </a:r>
            <a:r>
              <a:rPr lang="en-US" sz="2400" dirty="0" err="1"/>
              <a:t>адаптивный</a:t>
            </a:r>
            <a:r>
              <a:rPr lang="en-US" sz="2400" dirty="0"/>
              <a:t> </a:t>
            </a:r>
            <a:r>
              <a:rPr lang="en-US" sz="2400" dirty="0" err="1"/>
              <a:t>справочник</a:t>
            </a:r>
            <a:r>
              <a:rPr lang="en-US" sz="2400" dirty="0"/>
              <a:t> </a:t>
            </a:r>
            <a:r>
              <a:rPr lang="en-US" sz="2400" dirty="0" err="1"/>
              <a:t>со</a:t>
            </a:r>
            <a:r>
              <a:rPr lang="en-US" sz="2400" dirty="0"/>
              <a:t> </a:t>
            </a:r>
            <a:r>
              <a:rPr lang="en-US" sz="2400" dirty="0" err="1"/>
              <a:t>сложными</a:t>
            </a:r>
            <a:r>
              <a:rPr lang="en-US" sz="2400" dirty="0"/>
              <a:t> </a:t>
            </a:r>
            <a:r>
              <a:rPr lang="en-US" sz="2400" dirty="0" err="1"/>
              <a:t>таблицами</a:t>
            </a:r>
            <a:r>
              <a:rPr lang="en-US" sz="2400" dirty="0"/>
              <a:t> </a:t>
            </a:r>
            <a:r>
              <a:rPr lang="en-US" sz="2400" dirty="0" err="1"/>
              <a:t>склонений</a:t>
            </a:r>
            <a:r>
              <a:rPr lang="en-US" sz="2400" dirty="0"/>
              <a:t> и </a:t>
            </a:r>
            <a:r>
              <a:rPr lang="en-US" sz="2400" dirty="0" err="1"/>
              <a:t>артиклей</a:t>
            </a:r>
            <a:r>
              <a:rPr lang="en-US" sz="2400" dirty="0"/>
              <a:t>.</a:t>
            </a:r>
            <a:endParaRPr lang="ru-RU" sz="2400" dirty="0"/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/>
              <a:t>Механики</a:t>
            </a:r>
            <a:r>
              <a:rPr lang="en-US" sz="2400" b="1" dirty="0"/>
              <a:t> </a:t>
            </a:r>
            <a:r>
              <a:rPr lang="en-US" sz="2400" b="1" dirty="0" err="1"/>
              <a:t>геймификации</a:t>
            </a:r>
            <a:r>
              <a:rPr lang="en-US" sz="2400" b="1" dirty="0"/>
              <a:t>:</a:t>
            </a:r>
            <a:r>
              <a:rPr lang="en-US" sz="2400" dirty="0"/>
              <a:t> </a:t>
            </a:r>
            <a:r>
              <a:rPr lang="en-US" sz="2400" dirty="0" err="1"/>
              <a:t>автоматический</a:t>
            </a:r>
            <a:r>
              <a:rPr lang="en-US" sz="2400" dirty="0"/>
              <a:t> </a:t>
            </a:r>
            <a:r>
              <a:rPr lang="en-US" sz="2400" dirty="0" err="1"/>
              <a:t>расчет</a:t>
            </a:r>
            <a:r>
              <a:rPr lang="en-US" sz="2400" dirty="0"/>
              <a:t> «</a:t>
            </a:r>
            <a:r>
              <a:rPr lang="en-US" sz="2400" dirty="0" err="1"/>
              <a:t>ударного</a:t>
            </a:r>
            <a:r>
              <a:rPr lang="en-US" sz="2400" dirty="0"/>
              <a:t> </a:t>
            </a:r>
            <a:r>
              <a:rPr lang="en-US" sz="2400" dirty="0" err="1"/>
              <a:t>режима</a:t>
            </a:r>
            <a:r>
              <a:rPr lang="en-US" sz="2400" dirty="0"/>
              <a:t>» (Streaks) </a:t>
            </a:r>
            <a:r>
              <a:rPr lang="en-US" sz="2400" dirty="0" err="1"/>
              <a:t>для</a:t>
            </a:r>
            <a:r>
              <a:rPr lang="en-US" sz="2400" dirty="0"/>
              <a:t> </a:t>
            </a:r>
            <a:r>
              <a:rPr lang="en-US" sz="2400" dirty="0" err="1"/>
              <a:t>повышения</a:t>
            </a:r>
            <a:r>
              <a:rPr lang="en-US" sz="2400" dirty="0"/>
              <a:t> Retention Rate.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C66187-189C-08D2-90A3-2A09FC42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411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9D9B847-8809-7392-8ECD-82FB139CD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10</a:t>
            </a:fld>
            <a:endParaRPr lang="ru-RU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14512C7A-1886-C72D-113C-690E7A9E6373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59BC75-24EE-EC57-9E05-D42E058BCF10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3A3A9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Ключевой функционал и тестирование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CC3EE7F-4ADE-6210-143A-67CACD709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128" y="1025003"/>
            <a:ext cx="3509617" cy="533134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476633F-6DB5-660A-ED38-1D6FCA60B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6846" y="1025002"/>
            <a:ext cx="4686954" cy="533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524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A090E-FF32-0AF4-E6AF-68789161D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B351928D-6ED5-2A17-7CC9-DDD16A386AC7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702A5B-C63E-0B0E-2515-31BE9673BB6C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3A3A9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Результаты разработки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0FD29-DA40-EE0E-63E9-2F45E222CD1B}"/>
              </a:ext>
            </a:extLst>
          </p:cNvPr>
          <p:cNvSpPr txBox="1"/>
          <p:nvPr/>
        </p:nvSpPr>
        <p:spPr>
          <a:xfrm>
            <a:off x="334962" y="2274838"/>
            <a:ext cx="1152207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 </a:t>
            </a:r>
            <a:r>
              <a:rPr lang="en-US" sz="2400" b="1" dirty="0" err="1"/>
              <a:t>Мобильное</a:t>
            </a:r>
            <a:r>
              <a:rPr lang="en-US" sz="2400" b="1" dirty="0"/>
              <a:t> </a:t>
            </a:r>
            <a:r>
              <a:rPr lang="en-US" sz="2400" b="1" dirty="0" err="1"/>
              <a:t>приложение</a:t>
            </a:r>
            <a:r>
              <a:rPr lang="en-US" sz="2400" b="1" dirty="0"/>
              <a:t>:</a:t>
            </a:r>
            <a:r>
              <a:rPr lang="en-US" sz="2400" dirty="0"/>
              <a:t> </a:t>
            </a:r>
            <a:r>
              <a:rPr lang="en-US" sz="2400" dirty="0" err="1"/>
              <a:t>Полноценный</a:t>
            </a:r>
            <a:r>
              <a:rPr lang="en-US" sz="2400" dirty="0"/>
              <a:t> </a:t>
            </a:r>
            <a:r>
              <a:rPr lang="en-US" sz="2400" dirty="0" err="1"/>
              <a:t>функциональный</a:t>
            </a:r>
            <a:r>
              <a:rPr lang="en-US" sz="2400" dirty="0"/>
              <a:t> </a:t>
            </a:r>
            <a:r>
              <a:rPr lang="en-US" sz="2400" dirty="0" err="1"/>
              <a:t>прототип</a:t>
            </a:r>
            <a:r>
              <a:rPr lang="en-US" sz="2400" dirty="0"/>
              <a:t> </a:t>
            </a:r>
            <a:r>
              <a:rPr lang="en-US" sz="2400" dirty="0" err="1"/>
              <a:t>для</a:t>
            </a:r>
            <a:r>
              <a:rPr lang="en-US" sz="2400" dirty="0"/>
              <a:t> iOS и Android.</a:t>
            </a:r>
            <a:endParaRPr lang="ru-RU" sz="2400" dirty="0"/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 </a:t>
            </a:r>
            <a:r>
              <a:rPr lang="en-US" sz="2400" b="1" dirty="0" err="1"/>
              <a:t>Панель</a:t>
            </a:r>
            <a:r>
              <a:rPr lang="en-US" sz="2400" b="1" dirty="0"/>
              <a:t> </a:t>
            </a:r>
            <a:r>
              <a:rPr lang="en-US" sz="2400" b="1" dirty="0" err="1"/>
              <a:t>администратора</a:t>
            </a:r>
            <a:r>
              <a:rPr lang="en-US" sz="2400" b="1" dirty="0"/>
              <a:t>:</a:t>
            </a:r>
            <a:r>
              <a:rPr lang="en-US" sz="2400" dirty="0"/>
              <a:t> CRUD-</a:t>
            </a:r>
            <a:r>
              <a:rPr lang="en-US" sz="2400" dirty="0" err="1"/>
              <a:t>инструментарий</a:t>
            </a:r>
            <a:r>
              <a:rPr lang="en-US" sz="2400" dirty="0"/>
              <a:t> </a:t>
            </a:r>
            <a:r>
              <a:rPr lang="en-US" sz="2400" dirty="0" err="1"/>
              <a:t>для</a:t>
            </a:r>
            <a:r>
              <a:rPr lang="en-US" sz="2400" dirty="0"/>
              <a:t> </a:t>
            </a:r>
            <a:r>
              <a:rPr lang="en-US" sz="2400" dirty="0" err="1"/>
              <a:t>управления</a:t>
            </a:r>
            <a:r>
              <a:rPr lang="en-US" sz="2400" dirty="0"/>
              <a:t> </a:t>
            </a:r>
            <a:r>
              <a:rPr lang="en-US" sz="2400" dirty="0" err="1"/>
              <a:t>контентом</a:t>
            </a:r>
            <a:r>
              <a:rPr lang="en-US" sz="2400" dirty="0"/>
              <a:t> в </a:t>
            </a:r>
            <a:r>
              <a:rPr lang="en-US" sz="2400" dirty="0" err="1"/>
              <a:t>реальном</a:t>
            </a:r>
            <a:r>
              <a:rPr lang="en-US" sz="2400" dirty="0"/>
              <a:t> </a:t>
            </a:r>
            <a:r>
              <a:rPr lang="en-US" sz="2400" dirty="0" err="1"/>
              <a:t>времени</a:t>
            </a:r>
            <a:r>
              <a:rPr lang="en-US" sz="2400" dirty="0"/>
              <a:t>.</a:t>
            </a:r>
            <a:endParaRPr lang="ru-RU" sz="2400" dirty="0"/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 </a:t>
            </a:r>
            <a:r>
              <a:rPr lang="en-US" sz="2400" b="1" dirty="0" err="1"/>
              <a:t>Документация</a:t>
            </a:r>
            <a:r>
              <a:rPr lang="en-US" sz="2400" b="1" dirty="0"/>
              <a:t>:</a:t>
            </a:r>
            <a:r>
              <a:rPr lang="en-US" sz="2400" dirty="0"/>
              <a:t> </a:t>
            </a:r>
            <a:r>
              <a:rPr lang="en-US" sz="2400" dirty="0" err="1"/>
              <a:t>Полный</a:t>
            </a:r>
            <a:r>
              <a:rPr lang="en-US" sz="2400" dirty="0"/>
              <a:t> </a:t>
            </a:r>
            <a:r>
              <a:rPr lang="en-US" sz="2400" dirty="0" err="1"/>
              <a:t>комплект</a:t>
            </a:r>
            <a:r>
              <a:rPr lang="en-US" sz="2400" dirty="0"/>
              <a:t> </a:t>
            </a:r>
            <a:r>
              <a:rPr lang="en-US" sz="2400" dirty="0" err="1"/>
              <a:t>эксплуатационных</a:t>
            </a:r>
            <a:r>
              <a:rPr lang="en-US" sz="2400" dirty="0"/>
              <a:t> </a:t>
            </a:r>
            <a:r>
              <a:rPr lang="en-US" sz="2400" dirty="0" err="1"/>
              <a:t>документов</a:t>
            </a:r>
            <a:r>
              <a:rPr lang="en-US" sz="2400" dirty="0"/>
              <a:t> </a:t>
            </a:r>
            <a:endParaRPr lang="ru-RU" sz="2400" dirty="0"/>
          </a:p>
          <a:p>
            <a:endParaRPr lang="pl-P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 </a:t>
            </a:r>
            <a:r>
              <a:rPr lang="en-US" sz="2400" b="1" dirty="0" err="1"/>
              <a:t>Бизнес-логика</a:t>
            </a:r>
            <a:r>
              <a:rPr lang="en-US" sz="2400" b="1" dirty="0"/>
              <a:t>:</a:t>
            </a:r>
            <a:r>
              <a:rPr lang="en-US" sz="2400" dirty="0"/>
              <a:t> </a:t>
            </a:r>
            <a:r>
              <a:rPr lang="en-US" sz="2400" dirty="0" err="1"/>
              <a:t>Модуль</a:t>
            </a:r>
            <a:r>
              <a:rPr lang="en-US" sz="2400" dirty="0"/>
              <a:t> streakLogic.js и </a:t>
            </a:r>
            <a:r>
              <a:rPr lang="en-US" sz="2400" dirty="0" err="1"/>
              <a:t>транзакционные</a:t>
            </a:r>
            <a:r>
              <a:rPr lang="en-US" sz="2400" dirty="0"/>
              <a:t> </a:t>
            </a:r>
            <a:r>
              <a:rPr lang="en-US" sz="2400" dirty="0" err="1"/>
              <a:t>обновления</a:t>
            </a:r>
            <a:r>
              <a:rPr lang="en-US" sz="2400" dirty="0"/>
              <a:t> БД.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D3DB36-228A-ABF1-8306-6E4A3CFB2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773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DD0EF-7F22-FE1B-9DDD-C7492B3E6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C54B2F74-E294-50E0-53D5-2B6090B94844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DE6FF5-81C4-EA65-BA00-C87A6C773EEB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3A3A9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Практическая значимость и личный вклад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72EF07-8B32-2525-1F83-0C943CD8525E}"/>
              </a:ext>
            </a:extLst>
          </p:cNvPr>
          <p:cNvSpPr txBox="1"/>
          <p:nvPr/>
        </p:nvSpPr>
        <p:spPr>
          <a:xfrm>
            <a:off x="334963" y="1254271"/>
            <a:ext cx="727565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Практическая</a:t>
            </a:r>
            <a:r>
              <a:rPr lang="en-US" sz="2000" b="1" dirty="0"/>
              <a:t> </a:t>
            </a:r>
            <a:r>
              <a:rPr lang="en-US" sz="2000" b="1" dirty="0" err="1"/>
              <a:t>значимость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b="1" dirty="0" err="1"/>
              <a:t>Готовое</a:t>
            </a:r>
            <a:r>
              <a:rPr lang="en-US" sz="2000" b="1" dirty="0"/>
              <a:t> MVP:</a:t>
            </a:r>
            <a:r>
              <a:rPr lang="en-US" sz="2000" dirty="0"/>
              <a:t> </a:t>
            </a:r>
            <a:r>
              <a:rPr lang="en-US" sz="2000" dirty="0" err="1"/>
              <a:t>Приложение</a:t>
            </a:r>
            <a:r>
              <a:rPr lang="en-US" sz="2000" dirty="0"/>
              <a:t> </a:t>
            </a:r>
            <a:r>
              <a:rPr lang="en-US" sz="2000" dirty="0" err="1"/>
              <a:t>готово</a:t>
            </a:r>
            <a:r>
              <a:rPr lang="en-US" sz="2000" dirty="0"/>
              <a:t> к </a:t>
            </a:r>
            <a:r>
              <a:rPr lang="en-US" sz="2000" dirty="0" err="1"/>
              <a:t>внедрению</a:t>
            </a:r>
            <a:r>
              <a:rPr lang="en-US" sz="2000" dirty="0"/>
              <a:t> в </a:t>
            </a:r>
            <a:r>
              <a:rPr lang="en-US" sz="2000" dirty="0" err="1"/>
              <a:t>учебный</a:t>
            </a:r>
            <a:r>
              <a:rPr lang="en-US" sz="2000" dirty="0"/>
              <a:t> </a:t>
            </a:r>
            <a:r>
              <a:rPr lang="en-US" sz="2000" dirty="0" err="1"/>
              <a:t>процесс</a:t>
            </a:r>
            <a:r>
              <a:rPr lang="en-US" sz="2000" dirty="0"/>
              <a:t> </a:t>
            </a:r>
            <a:r>
              <a:rPr lang="en-US" sz="2000" dirty="0" err="1"/>
              <a:t>языковых</a:t>
            </a:r>
            <a:r>
              <a:rPr lang="en-US" sz="2000" dirty="0"/>
              <a:t> </a:t>
            </a:r>
            <a:r>
              <a:rPr lang="en-US" sz="2000" dirty="0" err="1"/>
              <a:t>центров</a:t>
            </a:r>
            <a:r>
              <a:rPr lang="en-US" sz="2000" dirty="0"/>
              <a:t>.</a:t>
            </a:r>
          </a:p>
          <a:p>
            <a:r>
              <a:rPr lang="en-US" sz="2000" b="1" dirty="0" err="1"/>
              <a:t>Масштабируемость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Архитектура</a:t>
            </a:r>
            <a:r>
              <a:rPr lang="en-US" sz="2000" dirty="0"/>
              <a:t> </a:t>
            </a:r>
            <a:r>
              <a:rPr lang="en-US" sz="2000" dirty="0" err="1"/>
              <a:t>позволяет</a:t>
            </a:r>
            <a:r>
              <a:rPr lang="en-US" sz="2000" dirty="0"/>
              <a:t> </a:t>
            </a:r>
            <a:r>
              <a:rPr lang="en-US" sz="2000" dirty="0" err="1"/>
              <a:t>быстро</a:t>
            </a:r>
            <a:r>
              <a:rPr lang="en-US" sz="2000" dirty="0"/>
              <a:t> </a:t>
            </a:r>
            <a:r>
              <a:rPr lang="en-US" sz="2000" dirty="0" err="1"/>
              <a:t>адаптировать</a:t>
            </a:r>
            <a:r>
              <a:rPr lang="en-US" sz="2000" dirty="0"/>
              <a:t> </a:t>
            </a:r>
            <a:r>
              <a:rPr lang="en-US" sz="2000" dirty="0" err="1"/>
              <a:t>код</a:t>
            </a:r>
            <a:r>
              <a:rPr lang="en-US" sz="2000" dirty="0"/>
              <a:t> </a:t>
            </a:r>
            <a:r>
              <a:rPr lang="en-US" sz="2000" dirty="0" err="1"/>
              <a:t>под</a:t>
            </a:r>
            <a:r>
              <a:rPr lang="en-US" sz="2000" dirty="0"/>
              <a:t> </a:t>
            </a:r>
            <a:r>
              <a:rPr lang="en-US" sz="2000" dirty="0" err="1"/>
              <a:t>другие</a:t>
            </a:r>
            <a:r>
              <a:rPr lang="en-US" sz="2000" dirty="0"/>
              <a:t> </a:t>
            </a:r>
            <a:r>
              <a:rPr lang="en-US" sz="2000" dirty="0" err="1"/>
              <a:t>языки</a:t>
            </a:r>
            <a:r>
              <a:rPr lang="en-US" sz="2000" dirty="0"/>
              <a:t>.</a:t>
            </a:r>
          </a:p>
          <a:p>
            <a:r>
              <a:rPr lang="en-US" sz="2000" b="1" dirty="0" err="1"/>
              <a:t>Экономичность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Использование</a:t>
            </a:r>
            <a:r>
              <a:rPr lang="en-US" sz="2000" dirty="0"/>
              <a:t> </a:t>
            </a:r>
            <a:r>
              <a:rPr lang="en-US" sz="2000" dirty="0" err="1"/>
              <a:t>бесплатного</a:t>
            </a:r>
            <a:r>
              <a:rPr lang="en-US" sz="2000" dirty="0"/>
              <a:t> </a:t>
            </a:r>
            <a:r>
              <a:rPr lang="en-US" sz="2000" dirty="0" err="1"/>
              <a:t>тарифа</a:t>
            </a:r>
            <a:r>
              <a:rPr lang="en-US" sz="2000" dirty="0"/>
              <a:t> Firebase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серверной</a:t>
            </a:r>
            <a:r>
              <a:rPr lang="en-US" sz="2000" dirty="0"/>
              <a:t> </a:t>
            </a:r>
            <a:r>
              <a:rPr lang="en-US" sz="2000" dirty="0" err="1"/>
              <a:t>части</a:t>
            </a:r>
            <a:r>
              <a:rPr lang="en-US" sz="2000" dirty="0"/>
              <a:t>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11DC4F-9B23-B21E-5DDB-72B33A3F8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12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80FABE-D1DD-15C2-4798-54993FCF3E2C}"/>
              </a:ext>
            </a:extLst>
          </p:cNvPr>
          <p:cNvSpPr txBox="1"/>
          <p:nvPr/>
        </p:nvSpPr>
        <p:spPr>
          <a:xfrm>
            <a:off x="334963" y="3572405"/>
            <a:ext cx="609834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Личный</a:t>
            </a:r>
            <a:r>
              <a:rPr lang="en-US" sz="2000" b="1" dirty="0"/>
              <a:t> </a:t>
            </a:r>
            <a:r>
              <a:rPr lang="en-US" sz="2000" b="1" dirty="0" err="1"/>
              <a:t>вклад</a:t>
            </a:r>
            <a:r>
              <a:rPr lang="en-US" sz="2000" b="1" dirty="0"/>
              <a:t> </a:t>
            </a:r>
            <a:r>
              <a:rPr lang="en-US" sz="2000" b="1" dirty="0" err="1"/>
              <a:t>автора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b="1" dirty="0" err="1"/>
              <a:t>Проектирование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Разработка</a:t>
            </a:r>
            <a:r>
              <a:rPr lang="en-US" sz="2000" dirty="0"/>
              <a:t> NoSQL-</a:t>
            </a:r>
            <a:r>
              <a:rPr lang="en-US" sz="2000" dirty="0" err="1"/>
              <a:t>базы</a:t>
            </a:r>
            <a:r>
              <a:rPr lang="en-US" sz="2000" dirty="0"/>
              <a:t> </a:t>
            </a:r>
            <a:r>
              <a:rPr lang="en-US" sz="2000" dirty="0" err="1"/>
              <a:t>данных</a:t>
            </a:r>
            <a:r>
              <a:rPr lang="en-US" sz="2000" dirty="0"/>
              <a:t>, </a:t>
            </a:r>
            <a:r>
              <a:rPr lang="en-US" sz="2000" dirty="0" err="1"/>
              <a:t>архитектуры</a:t>
            </a:r>
            <a:r>
              <a:rPr lang="en-US" sz="2000" dirty="0"/>
              <a:t> и UX/UI-</a:t>
            </a:r>
            <a:r>
              <a:rPr lang="en-US" sz="2000" dirty="0" err="1"/>
              <a:t>дизайна</a:t>
            </a:r>
            <a:r>
              <a:rPr lang="en-US" sz="2000" dirty="0"/>
              <a:t>.</a:t>
            </a:r>
          </a:p>
          <a:p>
            <a:r>
              <a:rPr lang="en-US" sz="2000" b="1" dirty="0" err="1"/>
              <a:t>Разработка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Написание</a:t>
            </a:r>
            <a:r>
              <a:rPr lang="en-US" sz="2000" dirty="0"/>
              <a:t> </a:t>
            </a:r>
            <a:r>
              <a:rPr lang="en-US" sz="2000" dirty="0" err="1"/>
              <a:t>кода</a:t>
            </a:r>
            <a:r>
              <a:rPr lang="en-US" sz="2000" dirty="0"/>
              <a:t> </a:t>
            </a:r>
            <a:r>
              <a:rPr lang="en-US" sz="2000" dirty="0" err="1"/>
              <a:t>на</a:t>
            </a:r>
            <a:r>
              <a:rPr lang="en-US" sz="2000" dirty="0"/>
              <a:t> React Native, </a:t>
            </a:r>
            <a:r>
              <a:rPr lang="en-US" sz="2000" dirty="0" err="1"/>
              <a:t>настройка</a:t>
            </a:r>
            <a:r>
              <a:rPr lang="en-US" sz="2000" dirty="0"/>
              <a:t> </a:t>
            </a:r>
            <a:r>
              <a:rPr lang="en-US" sz="2000" dirty="0" err="1"/>
              <a:t>авторизации</a:t>
            </a:r>
            <a:r>
              <a:rPr lang="en-US" sz="2000" dirty="0"/>
              <a:t> и </a:t>
            </a:r>
            <a:r>
              <a:rPr lang="en-US" sz="2000" dirty="0" err="1"/>
              <a:t>логики</a:t>
            </a:r>
            <a:r>
              <a:rPr lang="en-US" sz="2000" dirty="0"/>
              <a:t> </a:t>
            </a:r>
            <a:r>
              <a:rPr lang="en-US" sz="2000" dirty="0" err="1"/>
              <a:t>квизов</a:t>
            </a:r>
            <a:r>
              <a:rPr lang="en-US" sz="2000" dirty="0"/>
              <a:t>.</a:t>
            </a:r>
          </a:p>
          <a:p>
            <a:r>
              <a:rPr lang="en-US" sz="2000" b="1" dirty="0" err="1"/>
              <a:t>Тестирование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Создание</a:t>
            </a:r>
            <a:r>
              <a:rPr lang="en-US" sz="2000" dirty="0"/>
              <a:t> </a:t>
            </a:r>
            <a:r>
              <a:rPr lang="en-US" sz="2000" dirty="0" err="1"/>
              <a:t>тест-кейсов</a:t>
            </a:r>
            <a:r>
              <a:rPr lang="en-US" sz="2000" dirty="0"/>
              <a:t> и </a:t>
            </a:r>
            <a:r>
              <a:rPr lang="en-US" sz="2000" dirty="0" err="1"/>
              <a:t>проведение</a:t>
            </a:r>
            <a:r>
              <a:rPr lang="en-US" sz="2000" dirty="0"/>
              <a:t> </a:t>
            </a:r>
            <a:r>
              <a:rPr lang="en-US" sz="2000" dirty="0" err="1"/>
              <a:t>функциональной</a:t>
            </a:r>
            <a:r>
              <a:rPr lang="en-US" sz="2000" dirty="0"/>
              <a:t> </a:t>
            </a:r>
            <a:r>
              <a:rPr lang="en-US" sz="2000" dirty="0" err="1"/>
              <a:t>проверки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7556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A3F98-31B8-FD48-420F-9D07E70F4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807E95E2-5204-E24E-57BD-98065C9F8A3C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AB5F6C-6FA4-BA67-3BF4-FA10000B6716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3A3A9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Заключение и перспективы развития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25C11F-2D42-0483-693E-B4EA6E6B7E62}"/>
              </a:ext>
            </a:extLst>
          </p:cNvPr>
          <p:cNvSpPr txBox="1"/>
          <p:nvPr/>
        </p:nvSpPr>
        <p:spPr>
          <a:xfrm>
            <a:off x="538695" y="1246111"/>
            <a:ext cx="1152207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Основные</a:t>
            </a:r>
            <a:r>
              <a:rPr lang="en-US" sz="2400" b="1" dirty="0"/>
              <a:t> </a:t>
            </a:r>
            <a:r>
              <a:rPr lang="en-US" sz="2400" b="1" dirty="0" err="1"/>
              <a:t>результаты</a:t>
            </a:r>
            <a:r>
              <a:rPr lang="en-US" sz="2400" b="1" dirty="0"/>
              <a:t> </a:t>
            </a:r>
            <a:r>
              <a:rPr lang="en-US" sz="2400" b="1" dirty="0" err="1"/>
              <a:t>работы</a:t>
            </a:r>
            <a:r>
              <a:rPr lang="en-US" sz="2400" b="1" dirty="0"/>
              <a:t>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Выполнен</a:t>
            </a:r>
            <a:r>
              <a:rPr lang="en-US" sz="2400" dirty="0"/>
              <a:t> </a:t>
            </a:r>
            <a:r>
              <a:rPr lang="en-US" sz="2400" dirty="0" err="1"/>
              <a:t>комплексный</a:t>
            </a:r>
            <a:r>
              <a:rPr lang="en-US" sz="2400" dirty="0"/>
              <a:t> </a:t>
            </a:r>
            <a:r>
              <a:rPr lang="en-US" sz="2400" dirty="0" err="1"/>
              <a:t>анализ</a:t>
            </a:r>
            <a:r>
              <a:rPr lang="en-US" sz="2400" dirty="0"/>
              <a:t> </a:t>
            </a:r>
            <a:r>
              <a:rPr lang="en-US" sz="2400" dirty="0" err="1"/>
              <a:t>предметной</a:t>
            </a:r>
            <a:r>
              <a:rPr lang="en-US" sz="2400" dirty="0"/>
              <a:t> </a:t>
            </a:r>
            <a:r>
              <a:rPr lang="en-US" sz="2400" dirty="0" err="1"/>
              <a:t>области</a:t>
            </a:r>
            <a:r>
              <a:rPr lang="en-US" sz="2400" dirty="0"/>
              <a:t> и </a:t>
            </a:r>
            <a:r>
              <a:rPr lang="en-US" sz="2400" dirty="0" err="1"/>
              <a:t>существующих</a:t>
            </a:r>
            <a:r>
              <a:rPr lang="en-US" sz="2400" dirty="0"/>
              <a:t> </a:t>
            </a:r>
            <a:r>
              <a:rPr lang="en-US" sz="2400" dirty="0" err="1"/>
              <a:t>мобильных</a:t>
            </a:r>
            <a:r>
              <a:rPr lang="en-US" sz="2400" dirty="0"/>
              <a:t> </a:t>
            </a:r>
            <a:r>
              <a:rPr lang="en-US" sz="2400" dirty="0" err="1"/>
              <a:t>сервисов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Спроектирована</a:t>
            </a:r>
            <a:r>
              <a:rPr lang="en-US" sz="2400" dirty="0"/>
              <a:t> </a:t>
            </a:r>
            <a:r>
              <a:rPr lang="en-US" sz="2400" dirty="0" err="1"/>
              <a:t>оптимальная</a:t>
            </a:r>
            <a:r>
              <a:rPr lang="en-US" sz="2400" dirty="0"/>
              <a:t> </a:t>
            </a:r>
            <a:r>
              <a:rPr lang="en-US" sz="2400" dirty="0" err="1"/>
              <a:t>структура</a:t>
            </a:r>
            <a:r>
              <a:rPr lang="en-US" sz="2400" dirty="0"/>
              <a:t> NoSQL </a:t>
            </a:r>
            <a:r>
              <a:rPr lang="en-US" sz="2400" dirty="0" err="1"/>
              <a:t>базы</a:t>
            </a:r>
            <a:r>
              <a:rPr lang="en-US" sz="2400" dirty="0"/>
              <a:t> </a:t>
            </a:r>
            <a:r>
              <a:rPr lang="en-US" sz="2400" dirty="0" err="1"/>
              <a:t>данных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Разработано</a:t>
            </a:r>
            <a:r>
              <a:rPr lang="en-US" sz="2400" dirty="0"/>
              <a:t> </a:t>
            </a:r>
            <a:r>
              <a:rPr lang="en-US" sz="2400" dirty="0" err="1"/>
              <a:t>кроссплатформенн</a:t>
            </a:r>
            <a:r>
              <a:rPr lang="ru-RU" sz="2400" dirty="0" err="1"/>
              <a:t>ый</a:t>
            </a:r>
            <a:r>
              <a:rPr lang="ru-RU" sz="2400" dirty="0"/>
              <a:t> прототип </a:t>
            </a:r>
            <a:r>
              <a:rPr lang="en-US" sz="2400" dirty="0" err="1"/>
              <a:t>приложени</a:t>
            </a:r>
            <a:r>
              <a:rPr lang="ru-RU" sz="2400" dirty="0"/>
              <a:t>я </a:t>
            </a:r>
            <a:r>
              <a:rPr lang="en-US" sz="2400" dirty="0"/>
              <a:t>«Glossa» с </a:t>
            </a:r>
            <a:r>
              <a:rPr lang="en-US" sz="2400" dirty="0" err="1"/>
              <a:t>рабочим</a:t>
            </a:r>
            <a:r>
              <a:rPr lang="en-US" sz="2400" dirty="0"/>
              <a:t> </a:t>
            </a:r>
            <a:r>
              <a:rPr lang="en-US" sz="2400" dirty="0" err="1"/>
              <a:t>функционалом</a:t>
            </a:r>
            <a:r>
              <a:rPr lang="en-US" sz="2400" dirty="0"/>
              <a:t> </a:t>
            </a:r>
            <a:r>
              <a:rPr lang="en-US" sz="2400" dirty="0" err="1"/>
              <a:t>обучения</a:t>
            </a:r>
            <a:r>
              <a:rPr lang="en-US" sz="2400" dirty="0"/>
              <a:t>, </a:t>
            </a:r>
            <a:r>
              <a:rPr lang="en-US" sz="2400" dirty="0" err="1"/>
              <a:t>геймификации</a:t>
            </a:r>
            <a:r>
              <a:rPr lang="en-US" sz="2400" dirty="0"/>
              <a:t> и </a:t>
            </a:r>
            <a:r>
              <a:rPr lang="en-US" sz="2400" dirty="0" err="1"/>
              <a:t>администрирования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Подготовлен</a:t>
            </a:r>
            <a:r>
              <a:rPr lang="en-US" sz="2400" dirty="0"/>
              <a:t> </a:t>
            </a:r>
            <a:r>
              <a:rPr lang="en-US" sz="2400" dirty="0" err="1"/>
              <a:t>комплект</a:t>
            </a:r>
            <a:r>
              <a:rPr lang="en-US" sz="2400" dirty="0"/>
              <a:t> </a:t>
            </a:r>
            <a:r>
              <a:rPr lang="en-US" sz="2400" dirty="0" err="1"/>
              <a:t>эксплуатационной</a:t>
            </a:r>
            <a:r>
              <a:rPr lang="en-US" sz="2400" dirty="0"/>
              <a:t> </a:t>
            </a:r>
            <a:r>
              <a:rPr lang="en-US" sz="2400" dirty="0" err="1"/>
              <a:t>документации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1CB80F-20AD-60E3-8BB0-3AC855DDD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13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D88D80-0AE5-9660-3D7D-5D13BE7AEA1B}"/>
              </a:ext>
            </a:extLst>
          </p:cNvPr>
          <p:cNvSpPr txBox="1"/>
          <p:nvPr/>
        </p:nvSpPr>
        <p:spPr>
          <a:xfrm>
            <a:off x="538695" y="4441420"/>
            <a:ext cx="113907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Перспективы</a:t>
            </a:r>
            <a:r>
              <a:rPr lang="en-US" sz="2000" b="1" dirty="0"/>
              <a:t> </a:t>
            </a:r>
            <a:r>
              <a:rPr lang="en-US" sz="2000" b="1" dirty="0" err="1"/>
              <a:t>развития</a:t>
            </a:r>
            <a:r>
              <a:rPr lang="en-US" sz="2000" b="1" dirty="0"/>
              <a:t> </a:t>
            </a:r>
            <a:r>
              <a:rPr lang="en-US" sz="2000" b="1" dirty="0" err="1"/>
              <a:t>проекта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Интеграция</a:t>
            </a:r>
            <a:r>
              <a:rPr lang="en-US" sz="2000" dirty="0"/>
              <a:t> </a:t>
            </a:r>
            <a:r>
              <a:rPr lang="en-US" sz="2000" dirty="0" err="1"/>
              <a:t>алгоритмов</a:t>
            </a:r>
            <a:r>
              <a:rPr lang="en-US" sz="2000" dirty="0"/>
              <a:t> </a:t>
            </a:r>
            <a:r>
              <a:rPr lang="en-US" sz="2000" dirty="0" err="1"/>
              <a:t>интервального</a:t>
            </a:r>
            <a:r>
              <a:rPr lang="en-US" sz="2000" dirty="0"/>
              <a:t> </a:t>
            </a:r>
            <a:r>
              <a:rPr lang="en-US" sz="2000" dirty="0" err="1"/>
              <a:t>повторения</a:t>
            </a:r>
            <a:r>
              <a:rPr lang="en-US" sz="2000" dirty="0"/>
              <a:t> (SRS) и </a:t>
            </a:r>
            <a:r>
              <a:rPr lang="en-US" sz="2000" dirty="0" err="1"/>
              <a:t>внедрение</a:t>
            </a:r>
            <a:r>
              <a:rPr lang="en-US" sz="2000" dirty="0"/>
              <a:t> </a:t>
            </a:r>
            <a:r>
              <a:rPr lang="en-US" sz="2000" dirty="0" err="1"/>
              <a:t>технологий</a:t>
            </a:r>
            <a:r>
              <a:rPr lang="en-US" sz="2000" dirty="0"/>
              <a:t> </a:t>
            </a:r>
            <a:r>
              <a:rPr lang="en-US" sz="2000" dirty="0" err="1"/>
              <a:t>распознавания</a:t>
            </a:r>
            <a:r>
              <a:rPr lang="en-US" sz="2000" dirty="0"/>
              <a:t> </a:t>
            </a:r>
            <a:r>
              <a:rPr lang="en-US" sz="2000" dirty="0" err="1"/>
              <a:t>речи</a:t>
            </a:r>
            <a:r>
              <a:rPr lang="en-US" sz="2000" dirty="0"/>
              <a:t> (Speech-to-Text)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тренировки</a:t>
            </a:r>
            <a:r>
              <a:rPr lang="en-US" sz="2000" dirty="0"/>
              <a:t> </a:t>
            </a:r>
            <a:r>
              <a:rPr lang="en-US" sz="2000" dirty="0" err="1"/>
              <a:t>произношения</a:t>
            </a:r>
            <a:r>
              <a:rPr lang="pl-PL" sz="2000" dirty="0"/>
              <a:t>, </a:t>
            </a:r>
            <a:r>
              <a:rPr lang="ru-RU" sz="2000" dirty="0"/>
              <a:t>добавление видеоуроков</a:t>
            </a:r>
            <a:r>
              <a:rPr lang="pl-PL" sz="2000" dirty="0"/>
              <a:t>, </a:t>
            </a:r>
            <a:r>
              <a:rPr lang="ru-RU" sz="2000" dirty="0"/>
              <a:t>новые языки</a:t>
            </a:r>
            <a:r>
              <a:rPr lang="pl-PL" sz="2000" dirty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00994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FDE80A-E502-90BC-DB07-A7C0CA3781E9}"/>
              </a:ext>
            </a:extLst>
          </p:cNvPr>
          <p:cNvSpPr txBox="1"/>
          <p:nvPr/>
        </p:nvSpPr>
        <p:spPr>
          <a:xfrm>
            <a:off x="3048965" y="2979290"/>
            <a:ext cx="6094070" cy="442035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pPr algn="ctr"/>
            <a:r>
              <a:rPr lang="ru-RU" sz="2400" dirty="0">
                <a:latin typeface="Arial Black" panose="020B0A04020102020204" pitchFamily="34" charset="0"/>
              </a:rPr>
              <a:t>Спасибо за внимание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D67898-DE62-0CD7-4F0E-3EFE8409C636}"/>
              </a:ext>
            </a:extLst>
          </p:cNvPr>
          <p:cNvSpPr txBox="1"/>
          <p:nvPr/>
        </p:nvSpPr>
        <p:spPr>
          <a:xfrm>
            <a:off x="3048965" y="3440955"/>
            <a:ext cx="60940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pPr algn="ctr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Готов ответить на вопросы комиссии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AF1C7F-134F-4D75-8FD8-5084202113ED}"/>
              </a:ext>
            </a:extLst>
          </p:cNvPr>
          <p:cNvSpPr txBox="1"/>
          <p:nvPr/>
        </p:nvSpPr>
        <p:spPr>
          <a:xfrm>
            <a:off x="3215479" y="4272259"/>
            <a:ext cx="5761038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Репозиторий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https://github.com/Man5135/Glossa</a:t>
            </a:r>
            <a:endParaRPr lang="ru-RU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80DA23C4-D1C4-8721-9980-3923074D5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14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1D64BFE-2241-7E38-376C-3475A69C0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126" y="555130"/>
            <a:ext cx="2059745" cy="205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4587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804</Words>
  <Application>Microsoft Office PowerPoint</Application>
  <PresentationFormat>Широкоэкранный</PresentationFormat>
  <Paragraphs>129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Arial Black</vt:lpstr>
      <vt:lpstr>Courier New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Anastasi Cheprasova</dc:creator>
  <cp:lastModifiedBy>Даниил .</cp:lastModifiedBy>
  <cp:revision>26</cp:revision>
  <dcterms:created xsi:type="dcterms:W3CDTF">2026-06-13T14:57:40Z</dcterms:created>
  <dcterms:modified xsi:type="dcterms:W3CDTF">2026-06-16T00:39:50Z</dcterms:modified>
</cp:coreProperties>
</file>